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6.xml" ContentType="application/vnd.openxmlformats-officedocument.presentationml.slide+xml"/>
  <Override PartName="/ppt/slides/slide7.xml" ContentType="application/vnd.openxmlformats-officedocument.presentationml.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12"/>
    <p:sldId id="262" r:id="rId13"/>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  <Relationship Id="rId12" Type="http://schemas.openxmlformats.org/officeDocument/2006/relationships/slide" Target="slides/slide6.xml"/>
  <Relationship Id="rId13" Type="http://schemas.openxmlformats.org/officeDocument/2006/relationships/slide" Target="slides/slide7.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spans the full software testing life cycle in one governed environment. Of the 13 scope items, 5 are live, 1 is in active build, 1 is partially delivered, 4 are scheduled and 2 are being scoped. Requirements through test case approval is complete end to end; automation and regression execution are the next value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layer is built on proven enterprise components — no proprietary lock-in. The AI and agent layer is model-agnostic: it runs against an internal AI gateway or local Ollama, so no test data has to leave the enterprise boundary. The automation layer supports our existing Selenium and Katalon assets alongside Playwright.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the foundation and is largely delivered. The only open Phase 1 build is automation script generation and maintenance. Regression automation execution carries into the Phase 2 window of 1–15 September, with the Training Centre following 16–30 September. Phase 3 covers progression execution in October and manual effort estimation in the first ten days of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KB and RAG is not a feature of one module — it is the shared knowledge layer every other module draws on. The governance controls are the reason this is safe at enterprise scale: only approved content is indexed, access is enforced per project, and every AI answer is evidence-backed. The ask is to fund it as an independent capability rather than waiting for the modules that consume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Adoption is the main risk to the value case, and the Training Centre is the mitigation. Training is role-based rather than generic, taught on real telecom journeys, and practised in a sandbox so nothing touches production. Certified champion users become the first line of support inside each team, which is what makes the model scale without a permanent central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not one general-purpose model. It runs 25 specialised agents, each with a narrow job, a defined input and a reviewable output. Requirements can enter from four different sources — documents, screenshots, live portals or source code — which is what lets us onboard projects that have no formal requirement documentation. The design point for governance is that deterministic rules run before any model call, five agents exist purely to review the work of other agents, and every stage still ends at a human approval gate. The model layer itself is swappable: three roles route to an internal AI gateway or a local model, so no test data has to leave the enterprise boundary.</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inventory, by phase. Two things are worth calling out. First, the reviewer agents — Scenario Review, Test Case Review and Script Review — are separate agents that grade the generated artefact against its source before a person ever sees it, which is what keeps review effort low. Second, the automation column is where the differentiation sits: MCP Discovery, Planner and Grounded Capture all work against the live application, so generated scripts are grounded in the real UI rather than guessed, and Dry Run plus Repair Loop mean a script is already proven to execute before review. Every one of these runs is logged with its model, prompt version, inputs and duration, so the pipeline is fully auditable.</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730"/>
        </a:solidFill>
      </p:bgPr>
    </p:bg>
    <p:spTree>
      <p:nvGrpSpPr>
        <p:cNvPr id="1" name=""/>
        <p:cNvGrpSpPr/>
        <p:nvPr/>
      </p:nvGrpSpPr>
      <p:grpSpPr>
        <a:xfrm>
          <a:off x="0" y="0"/>
          <a:ext cx="0" cy="0"/>
          <a:chOff x="0" y="0"/>
          <a:chExt cx="0" cy="0"/>
        </a:xfrm>
      </p:grpSpPr>
      <p:sp>
        <p:nvSpPr>
          <p:cNvPr id="2" name="Text 0"/>
          <p:cNvSpPr/>
          <p:nvPr/>
        </p:nvSpPr>
        <p:spPr>
          <a:xfrm>
            <a:off x="502920" y="329184"/>
            <a:ext cx="11185855" cy="237744"/>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PLATFORM OVERVIEW</a:t>
            </a:r>
            <a:endParaRPr lang="en-US" sz="1100" dirty="0"/>
          </a:p>
        </p:txBody>
      </p:sp>
      <p:sp>
        <p:nvSpPr>
          <p:cNvPr id="3" name="Text 1"/>
          <p:cNvSpPr/>
          <p:nvPr/>
        </p:nvSpPr>
        <p:spPr>
          <a:xfrm>
            <a:off x="502920" y="585216"/>
            <a:ext cx="11185855"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AI-Powered STLC Platform</a:t>
            </a:r>
            <a:endParaRPr lang="en-US" sz="3200" dirty="0"/>
          </a:p>
        </p:txBody>
      </p:sp>
      <p:sp>
        <p:nvSpPr>
          <p:cNvPr id="4" name="Text 2"/>
          <p:cNvSpPr/>
          <p:nvPr/>
        </p:nvSpPr>
        <p:spPr>
          <a:xfrm>
            <a:off x="502920" y="1188720"/>
            <a:ext cx="7863840" cy="457200"/>
          </a:xfrm>
          <a:prstGeom prst="rect">
            <a:avLst/>
          </a:prstGeom>
          <a:noFill/>
          <a:ln/>
        </p:spPr>
        <p:txBody>
          <a:bodyPr wrap="square" lIns="0" tIns="0" rIns="0" bIns="0" rtlCol="0" anchor="ctr"/>
          <a:lstStyle/>
          <a:p>
            <a:pPr indent="0" marL="0">
              <a:lnSpc>
                <a:spcPts val="2000"/>
              </a:lnSpc>
              <a:buNone/>
            </a:pPr>
            <a:r>
              <a:rPr lang="en-US" sz="1350" dirty="0">
                <a:solidFill>
                  <a:srgbClr val="A8B6D1"/>
                </a:solidFill>
                <a:latin typeface="Calibri" pitchFamily="34" charset="0"/>
                <a:ea typeface="Calibri" pitchFamily="34" charset="-122"/>
                <a:cs typeface="Calibri" pitchFamily="34" charset="-120"/>
              </a:rPr>
              <a:t>One platform covering requirements, test case management, automation, regression execution, evidence, reporting and knowledge reuse.</a:t>
            </a:r>
            <a:endParaRPr lang="en-US" sz="1350" dirty="0"/>
          </a:p>
        </p:txBody>
      </p:sp>
      <p:sp>
        <p:nvSpPr>
          <p:cNvPr id="5" name="Shape 3"/>
          <p:cNvSpPr/>
          <p:nvPr/>
        </p:nvSpPr>
        <p:spPr>
          <a:xfrm>
            <a:off x="502920" y="1773936"/>
            <a:ext cx="2130552" cy="402336"/>
          </a:xfrm>
          <a:prstGeom prst="roundRect">
            <a:avLst>
              <a:gd name="adj" fmla="val 22727"/>
            </a:avLst>
          </a:prstGeom>
          <a:solidFill>
            <a:srgbClr val="223257"/>
          </a:solidFill>
          <a:ln/>
        </p:spPr>
      </p:sp>
      <p:sp>
        <p:nvSpPr>
          <p:cNvPr id="6" name="Text 4"/>
          <p:cNvSpPr/>
          <p:nvPr/>
        </p:nvSpPr>
        <p:spPr>
          <a:xfrm>
            <a:off x="502920" y="1773936"/>
            <a:ext cx="2130552" cy="402336"/>
          </a:xfrm>
          <a:prstGeom prst="rect">
            <a:avLst/>
          </a:prstGeom>
          <a:noFill/>
          <a:ln/>
        </p:spPr>
        <p:txBody>
          <a:bodyPr wrap="square" lIns="0" tIns="0" rIns="0" bIns="0" rtlCol="0" anchor="ctr"/>
          <a:lstStyle/>
          <a:p>
            <a:pPr algn="ctr" indent="0" marL="0">
              <a:buNone/>
            </a:pPr>
            <a:r>
              <a:rPr lang="en-US" sz="1000" b="1" dirty="0">
                <a:solidFill>
                  <a:srgbClr val="DCE6F7"/>
                </a:solidFill>
                <a:latin typeface="Calibri" pitchFamily="34" charset="0"/>
                <a:ea typeface="Calibri" pitchFamily="34" charset="-122"/>
                <a:cs typeface="Calibri" pitchFamily="34" charset="-120"/>
              </a:rPr>
              <a:t>Higher test coverage</a:t>
            </a:r>
            <a:endParaRPr lang="en-US" sz="1000" dirty="0"/>
          </a:p>
        </p:txBody>
      </p:sp>
      <p:sp>
        <p:nvSpPr>
          <p:cNvPr id="7" name="Shape 5"/>
          <p:cNvSpPr/>
          <p:nvPr/>
        </p:nvSpPr>
        <p:spPr>
          <a:xfrm>
            <a:off x="2761488" y="1773936"/>
            <a:ext cx="2130552" cy="402336"/>
          </a:xfrm>
          <a:prstGeom prst="roundRect">
            <a:avLst>
              <a:gd name="adj" fmla="val 22727"/>
            </a:avLst>
          </a:prstGeom>
          <a:solidFill>
            <a:srgbClr val="223257"/>
          </a:solidFill>
          <a:ln/>
        </p:spPr>
      </p:sp>
      <p:sp>
        <p:nvSpPr>
          <p:cNvPr id="8" name="Text 6"/>
          <p:cNvSpPr/>
          <p:nvPr/>
        </p:nvSpPr>
        <p:spPr>
          <a:xfrm>
            <a:off x="2761488" y="1773936"/>
            <a:ext cx="2130552" cy="402336"/>
          </a:xfrm>
          <a:prstGeom prst="rect">
            <a:avLst/>
          </a:prstGeom>
          <a:noFill/>
          <a:ln/>
        </p:spPr>
        <p:txBody>
          <a:bodyPr wrap="square" lIns="0" tIns="0" rIns="0" bIns="0" rtlCol="0" anchor="ctr"/>
          <a:lstStyle/>
          <a:p>
            <a:pPr algn="ctr" indent="0" marL="0">
              <a:buNone/>
            </a:pPr>
            <a:r>
              <a:rPr lang="en-US" sz="1000" b="1" dirty="0">
                <a:solidFill>
                  <a:srgbClr val="DCE6F7"/>
                </a:solidFill>
                <a:latin typeface="Calibri" pitchFamily="34" charset="0"/>
                <a:ea typeface="Calibri" pitchFamily="34" charset="-122"/>
                <a:cs typeface="Calibri" pitchFamily="34" charset="-120"/>
              </a:rPr>
              <a:t>Faster automation</a:t>
            </a:r>
            <a:endParaRPr lang="en-US" sz="1000" dirty="0"/>
          </a:p>
        </p:txBody>
      </p:sp>
      <p:sp>
        <p:nvSpPr>
          <p:cNvPr id="9" name="Shape 7"/>
          <p:cNvSpPr/>
          <p:nvPr/>
        </p:nvSpPr>
        <p:spPr>
          <a:xfrm>
            <a:off x="5020056" y="1773936"/>
            <a:ext cx="2130552" cy="402336"/>
          </a:xfrm>
          <a:prstGeom prst="roundRect">
            <a:avLst>
              <a:gd name="adj" fmla="val 22727"/>
            </a:avLst>
          </a:prstGeom>
          <a:solidFill>
            <a:srgbClr val="223257"/>
          </a:solidFill>
          <a:ln/>
        </p:spPr>
      </p:sp>
      <p:sp>
        <p:nvSpPr>
          <p:cNvPr id="10" name="Text 8"/>
          <p:cNvSpPr/>
          <p:nvPr/>
        </p:nvSpPr>
        <p:spPr>
          <a:xfrm>
            <a:off x="5020056" y="1773936"/>
            <a:ext cx="2130552" cy="402336"/>
          </a:xfrm>
          <a:prstGeom prst="rect">
            <a:avLst/>
          </a:prstGeom>
          <a:noFill/>
          <a:ln/>
        </p:spPr>
        <p:txBody>
          <a:bodyPr wrap="square" lIns="0" tIns="0" rIns="0" bIns="0" rtlCol="0" anchor="ctr"/>
          <a:lstStyle/>
          <a:p>
            <a:pPr algn="ctr" indent="0" marL="0">
              <a:buNone/>
            </a:pPr>
            <a:r>
              <a:rPr lang="en-US" sz="1000" b="1" dirty="0">
                <a:solidFill>
                  <a:srgbClr val="DCE6F7"/>
                </a:solidFill>
                <a:latin typeface="Calibri" pitchFamily="34" charset="0"/>
                <a:ea typeface="Calibri" pitchFamily="34" charset="-122"/>
                <a:cs typeface="Calibri" pitchFamily="34" charset="-120"/>
              </a:rPr>
              <a:t>Stronger traceability</a:t>
            </a:r>
            <a:endParaRPr lang="en-US" sz="1000" dirty="0"/>
          </a:p>
        </p:txBody>
      </p:sp>
      <p:sp>
        <p:nvSpPr>
          <p:cNvPr id="11" name="Shape 9"/>
          <p:cNvSpPr/>
          <p:nvPr/>
        </p:nvSpPr>
        <p:spPr>
          <a:xfrm>
            <a:off x="7278624" y="1773936"/>
            <a:ext cx="2130552" cy="402336"/>
          </a:xfrm>
          <a:prstGeom prst="roundRect">
            <a:avLst>
              <a:gd name="adj" fmla="val 22727"/>
            </a:avLst>
          </a:prstGeom>
          <a:solidFill>
            <a:srgbClr val="223257"/>
          </a:solidFill>
          <a:ln/>
        </p:spPr>
      </p:sp>
      <p:sp>
        <p:nvSpPr>
          <p:cNvPr id="12" name="Text 10"/>
          <p:cNvSpPr/>
          <p:nvPr/>
        </p:nvSpPr>
        <p:spPr>
          <a:xfrm>
            <a:off x="7278624" y="1773936"/>
            <a:ext cx="2130552" cy="402336"/>
          </a:xfrm>
          <a:prstGeom prst="rect">
            <a:avLst/>
          </a:prstGeom>
          <a:noFill/>
          <a:ln/>
        </p:spPr>
        <p:txBody>
          <a:bodyPr wrap="square" lIns="0" tIns="0" rIns="0" bIns="0" rtlCol="0" anchor="ctr"/>
          <a:lstStyle/>
          <a:p>
            <a:pPr algn="ctr" indent="0" marL="0">
              <a:buNone/>
            </a:pPr>
            <a:r>
              <a:rPr lang="en-US" sz="1000" b="1" dirty="0">
                <a:solidFill>
                  <a:srgbClr val="DCE6F7"/>
                </a:solidFill>
                <a:latin typeface="Calibri" pitchFamily="34" charset="0"/>
                <a:ea typeface="Calibri" pitchFamily="34" charset="-122"/>
                <a:cs typeface="Calibri" pitchFamily="34" charset="-120"/>
              </a:rPr>
              <a:t>Less manual effort</a:t>
            </a:r>
            <a:endParaRPr lang="en-US" sz="1000" dirty="0"/>
          </a:p>
        </p:txBody>
      </p:sp>
      <p:sp>
        <p:nvSpPr>
          <p:cNvPr id="13" name="Shape 11"/>
          <p:cNvSpPr/>
          <p:nvPr/>
        </p:nvSpPr>
        <p:spPr>
          <a:xfrm>
            <a:off x="9537192" y="1773936"/>
            <a:ext cx="2130552" cy="402336"/>
          </a:xfrm>
          <a:prstGeom prst="roundRect">
            <a:avLst>
              <a:gd name="adj" fmla="val 22727"/>
            </a:avLst>
          </a:prstGeom>
          <a:solidFill>
            <a:srgbClr val="223257"/>
          </a:solidFill>
          <a:ln/>
        </p:spPr>
      </p:sp>
      <p:sp>
        <p:nvSpPr>
          <p:cNvPr id="14" name="Text 12"/>
          <p:cNvSpPr/>
          <p:nvPr/>
        </p:nvSpPr>
        <p:spPr>
          <a:xfrm>
            <a:off x="9537192" y="1773936"/>
            <a:ext cx="2130552" cy="402336"/>
          </a:xfrm>
          <a:prstGeom prst="rect">
            <a:avLst/>
          </a:prstGeom>
          <a:noFill/>
          <a:ln/>
        </p:spPr>
        <p:txBody>
          <a:bodyPr wrap="square" lIns="0" tIns="0" rIns="0" bIns="0" rtlCol="0" anchor="ctr"/>
          <a:lstStyle/>
          <a:p>
            <a:pPr algn="ctr" indent="0" marL="0">
              <a:buNone/>
            </a:pPr>
            <a:r>
              <a:rPr lang="en-US" sz="1000" b="1" dirty="0">
                <a:solidFill>
                  <a:srgbClr val="DCE6F7"/>
                </a:solidFill>
                <a:latin typeface="Calibri" pitchFamily="34" charset="0"/>
                <a:ea typeface="Calibri" pitchFamily="34" charset="-122"/>
                <a:cs typeface="Calibri" pitchFamily="34" charset="-120"/>
              </a:rPr>
              <a:t>Data-driven decisions</a:t>
            </a:r>
            <a:endParaRPr lang="en-US" sz="1000" dirty="0"/>
          </a:p>
        </p:txBody>
      </p:sp>
      <p:sp>
        <p:nvSpPr>
          <p:cNvPr id="15" name="Text 13"/>
          <p:cNvSpPr/>
          <p:nvPr/>
        </p:nvSpPr>
        <p:spPr>
          <a:xfrm>
            <a:off x="502920" y="2359152"/>
            <a:ext cx="5486400" cy="256032"/>
          </a:xfrm>
          <a:prstGeom prst="rect">
            <a:avLst/>
          </a:prstGeom>
          <a:noFill/>
          <a:ln/>
        </p:spPr>
        <p:txBody>
          <a:bodyPr wrap="square" lIns="0" tIns="0" rIns="0" bIns="0" rtlCol="0" anchor="ctr"/>
          <a:lstStyle/>
          <a:p>
            <a:pPr indent="0" marL="0">
              <a:buNone/>
            </a:pPr>
            <a:r>
              <a:rPr lang="en-US" sz="1050" b="1" spc="140" kern="0" dirty="0">
                <a:solidFill>
                  <a:srgbClr val="A8B6D1"/>
                </a:solidFill>
                <a:latin typeface="Calibri" pitchFamily="34" charset="0"/>
                <a:ea typeface="Calibri" pitchFamily="34" charset="-122"/>
                <a:cs typeface="Calibri" pitchFamily="34" charset="-120"/>
              </a:rPr>
              <a:t>PLANNED SCOPE — PHASE 1 TO 3</a:t>
            </a:r>
            <a:endParaRPr lang="en-US" sz="1050" dirty="0"/>
          </a:p>
        </p:txBody>
      </p:sp>
      <p:sp>
        <p:nvSpPr>
          <p:cNvPr id="16" name="Shape 14"/>
          <p:cNvSpPr/>
          <p:nvPr/>
        </p:nvSpPr>
        <p:spPr>
          <a:xfrm>
            <a:off x="502920" y="2706624"/>
            <a:ext cx="3566160" cy="603504"/>
          </a:xfrm>
          <a:prstGeom prst="roundRect">
            <a:avLst>
              <a:gd name="adj" fmla="val 10606"/>
            </a:avLst>
          </a:prstGeom>
          <a:solidFill>
            <a:srgbClr val="1B2A4E"/>
          </a:solidFill>
          <a:ln/>
        </p:spPr>
      </p:sp>
      <p:sp>
        <p:nvSpPr>
          <p:cNvPr id="17" name="Shape 15"/>
          <p:cNvSpPr/>
          <p:nvPr/>
        </p:nvSpPr>
        <p:spPr>
          <a:xfrm>
            <a:off x="630936" y="2862072"/>
            <a:ext cx="292608" cy="292608"/>
          </a:xfrm>
          <a:prstGeom prst="ellipse">
            <a:avLst/>
          </a:prstGeom>
          <a:solidFill>
            <a:srgbClr val="223257"/>
          </a:solidFill>
          <a:ln/>
        </p:spPr>
      </p:sp>
      <p:sp>
        <p:nvSpPr>
          <p:cNvPr id="18" name="Text 16"/>
          <p:cNvSpPr/>
          <p:nvPr/>
        </p:nvSpPr>
        <p:spPr>
          <a:xfrm>
            <a:off x="630936" y="2862072"/>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a</a:t>
            </a:r>
            <a:endParaRPr lang="en-US" sz="950" dirty="0"/>
          </a:p>
        </p:txBody>
      </p:sp>
      <p:sp>
        <p:nvSpPr>
          <p:cNvPr id="19" name="Text 17"/>
          <p:cNvSpPr/>
          <p:nvPr/>
        </p:nvSpPr>
        <p:spPr>
          <a:xfrm>
            <a:off x="996696" y="2752344"/>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Requirement Intake, Analysis, Traceability, Review &amp; Approval</a:t>
            </a:r>
            <a:endParaRPr lang="en-US" sz="950" dirty="0"/>
          </a:p>
        </p:txBody>
      </p:sp>
      <p:sp>
        <p:nvSpPr>
          <p:cNvPr id="20" name="Shape 18"/>
          <p:cNvSpPr/>
          <p:nvPr/>
        </p:nvSpPr>
        <p:spPr>
          <a:xfrm>
            <a:off x="3172968" y="2889504"/>
            <a:ext cx="786384" cy="237744"/>
          </a:xfrm>
          <a:prstGeom prst="roundRect">
            <a:avLst>
              <a:gd name="adj" fmla="val 50000"/>
            </a:avLst>
          </a:prstGeom>
          <a:solidFill>
            <a:srgbClr val="02C39A"/>
          </a:solidFill>
          <a:ln/>
        </p:spPr>
      </p:sp>
      <p:sp>
        <p:nvSpPr>
          <p:cNvPr id="21" name="Text 19"/>
          <p:cNvSpPr/>
          <p:nvPr/>
        </p:nvSpPr>
        <p:spPr>
          <a:xfrm>
            <a:off x="3172968" y="2889504"/>
            <a:ext cx="786384" cy="237744"/>
          </a:xfrm>
          <a:prstGeom prst="rect">
            <a:avLst/>
          </a:prstGeom>
          <a:noFill/>
          <a:ln/>
        </p:spPr>
        <p:txBody>
          <a:bodyPr wrap="square" lIns="0" tIns="0" rIns="0" bIns="0" rtlCol="0" anchor="ctr"/>
          <a:lstStyle/>
          <a:p>
            <a:pPr algn="ctr" indent="0" marL="0">
              <a:buNone/>
            </a:pPr>
            <a:r>
              <a:rPr lang="en-US" sz="850" b="1" dirty="0">
                <a:solidFill>
                  <a:srgbClr val="06301F"/>
                </a:solidFill>
                <a:latin typeface="Calibri" pitchFamily="34" charset="0"/>
                <a:ea typeface="Calibri" pitchFamily="34" charset="-122"/>
                <a:cs typeface="Calibri" pitchFamily="34" charset="-120"/>
              </a:rPr>
              <a:t>Completed</a:t>
            </a:r>
            <a:endParaRPr lang="en-US" sz="850" dirty="0"/>
          </a:p>
        </p:txBody>
      </p:sp>
      <p:sp>
        <p:nvSpPr>
          <p:cNvPr id="22" name="Shape 20"/>
          <p:cNvSpPr/>
          <p:nvPr/>
        </p:nvSpPr>
        <p:spPr>
          <a:xfrm>
            <a:off x="502920" y="3401568"/>
            <a:ext cx="3566160" cy="603504"/>
          </a:xfrm>
          <a:prstGeom prst="roundRect">
            <a:avLst>
              <a:gd name="adj" fmla="val 10606"/>
            </a:avLst>
          </a:prstGeom>
          <a:solidFill>
            <a:srgbClr val="1B2A4E"/>
          </a:solidFill>
          <a:ln/>
        </p:spPr>
      </p:sp>
      <p:sp>
        <p:nvSpPr>
          <p:cNvPr id="23" name="Shape 21"/>
          <p:cNvSpPr/>
          <p:nvPr/>
        </p:nvSpPr>
        <p:spPr>
          <a:xfrm>
            <a:off x="630936" y="3557016"/>
            <a:ext cx="292608" cy="292608"/>
          </a:xfrm>
          <a:prstGeom prst="ellipse">
            <a:avLst/>
          </a:prstGeom>
          <a:solidFill>
            <a:srgbClr val="223257"/>
          </a:solidFill>
          <a:ln/>
        </p:spPr>
      </p:sp>
      <p:sp>
        <p:nvSpPr>
          <p:cNvPr id="24" name="Text 22"/>
          <p:cNvSpPr/>
          <p:nvPr/>
        </p:nvSpPr>
        <p:spPr>
          <a:xfrm>
            <a:off x="630936" y="3557016"/>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b</a:t>
            </a:r>
            <a:endParaRPr lang="en-US" sz="950" dirty="0"/>
          </a:p>
        </p:txBody>
      </p:sp>
      <p:sp>
        <p:nvSpPr>
          <p:cNvPr id="25" name="Text 23"/>
          <p:cNvSpPr/>
          <p:nvPr/>
        </p:nvSpPr>
        <p:spPr>
          <a:xfrm>
            <a:off x="996696" y="3447288"/>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Test Plan &amp; Test Scenario Generation</a:t>
            </a:r>
            <a:endParaRPr lang="en-US" sz="950" dirty="0"/>
          </a:p>
        </p:txBody>
      </p:sp>
      <p:sp>
        <p:nvSpPr>
          <p:cNvPr id="26" name="Shape 24"/>
          <p:cNvSpPr/>
          <p:nvPr/>
        </p:nvSpPr>
        <p:spPr>
          <a:xfrm>
            <a:off x="3172968" y="3584448"/>
            <a:ext cx="786384" cy="237744"/>
          </a:xfrm>
          <a:prstGeom prst="roundRect">
            <a:avLst>
              <a:gd name="adj" fmla="val 50000"/>
            </a:avLst>
          </a:prstGeom>
          <a:solidFill>
            <a:srgbClr val="02C39A"/>
          </a:solidFill>
          <a:ln/>
        </p:spPr>
      </p:sp>
      <p:sp>
        <p:nvSpPr>
          <p:cNvPr id="27" name="Text 25"/>
          <p:cNvSpPr/>
          <p:nvPr/>
        </p:nvSpPr>
        <p:spPr>
          <a:xfrm>
            <a:off x="3172968" y="3584448"/>
            <a:ext cx="786384" cy="237744"/>
          </a:xfrm>
          <a:prstGeom prst="rect">
            <a:avLst/>
          </a:prstGeom>
          <a:noFill/>
          <a:ln/>
        </p:spPr>
        <p:txBody>
          <a:bodyPr wrap="square" lIns="0" tIns="0" rIns="0" bIns="0" rtlCol="0" anchor="ctr"/>
          <a:lstStyle/>
          <a:p>
            <a:pPr algn="ctr" indent="0" marL="0">
              <a:buNone/>
            </a:pPr>
            <a:r>
              <a:rPr lang="en-US" sz="850" b="1" dirty="0">
                <a:solidFill>
                  <a:srgbClr val="06301F"/>
                </a:solidFill>
                <a:latin typeface="Calibri" pitchFamily="34" charset="0"/>
                <a:ea typeface="Calibri" pitchFamily="34" charset="-122"/>
                <a:cs typeface="Calibri" pitchFamily="34" charset="-120"/>
              </a:rPr>
              <a:t>Completed</a:t>
            </a:r>
            <a:endParaRPr lang="en-US" sz="850" dirty="0"/>
          </a:p>
        </p:txBody>
      </p:sp>
      <p:sp>
        <p:nvSpPr>
          <p:cNvPr id="28" name="Shape 26"/>
          <p:cNvSpPr/>
          <p:nvPr/>
        </p:nvSpPr>
        <p:spPr>
          <a:xfrm>
            <a:off x="502920" y="4096512"/>
            <a:ext cx="3566160" cy="603504"/>
          </a:xfrm>
          <a:prstGeom prst="roundRect">
            <a:avLst>
              <a:gd name="adj" fmla="val 10606"/>
            </a:avLst>
          </a:prstGeom>
          <a:solidFill>
            <a:srgbClr val="1B2A4E"/>
          </a:solidFill>
          <a:ln/>
        </p:spPr>
      </p:sp>
      <p:sp>
        <p:nvSpPr>
          <p:cNvPr id="29" name="Shape 27"/>
          <p:cNvSpPr/>
          <p:nvPr/>
        </p:nvSpPr>
        <p:spPr>
          <a:xfrm>
            <a:off x="630936" y="4251960"/>
            <a:ext cx="292608" cy="292608"/>
          </a:xfrm>
          <a:prstGeom prst="ellipse">
            <a:avLst/>
          </a:prstGeom>
          <a:solidFill>
            <a:srgbClr val="223257"/>
          </a:solidFill>
          <a:ln/>
        </p:spPr>
      </p:sp>
      <p:sp>
        <p:nvSpPr>
          <p:cNvPr id="30" name="Text 28"/>
          <p:cNvSpPr/>
          <p:nvPr/>
        </p:nvSpPr>
        <p:spPr>
          <a:xfrm>
            <a:off x="630936" y="4251960"/>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c</a:t>
            </a:r>
            <a:endParaRPr lang="en-US" sz="950" dirty="0"/>
          </a:p>
        </p:txBody>
      </p:sp>
      <p:sp>
        <p:nvSpPr>
          <p:cNvPr id="31" name="Text 29"/>
          <p:cNvSpPr/>
          <p:nvPr/>
        </p:nvSpPr>
        <p:spPr>
          <a:xfrm>
            <a:off x="996696" y="4142232"/>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Test Case Generation, Editing and Approval</a:t>
            </a:r>
            <a:endParaRPr lang="en-US" sz="950" dirty="0"/>
          </a:p>
        </p:txBody>
      </p:sp>
      <p:sp>
        <p:nvSpPr>
          <p:cNvPr id="32" name="Shape 30"/>
          <p:cNvSpPr/>
          <p:nvPr/>
        </p:nvSpPr>
        <p:spPr>
          <a:xfrm>
            <a:off x="3172968" y="4279392"/>
            <a:ext cx="786384" cy="237744"/>
          </a:xfrm>
          <a:prstGeom prst="roundRect">
            <a:avLst>
              <a:gd name="adj" fmla="val 50000"/>
            </a:avLst>
          </a:prstGeom>
          <a:solidFill>
            <a:srgbClr val="02C39A"/>
          </a:solidFill>
          <a:ln/>
        </p:spPr>
      </p:sp>
      <p:sp>
        <p:nvSpPr>
          <p:cNvPr id="33" name="Text 31"/>
          <p:cNvSpPr/>
          <p:nvPr/>
        </p:nvSpPr>
        <p:spPr>
          <a:xfrm>
            <a:off x="3172968" y="4279392"/>
            <a:ext cx="786384" cy="237744"/>
          </a:xfrm>
          <a:prstGeom prst="rect">
            <a:avLst/>
          </a:prstGeom>
          <a:noFill/>
          <a:ln/>
        </p:spPr>
        <p:txBody>
          <a:bodyPr wrap="square" lIns="0" tIns="0" rIns="0" bIns="0" rtlCol="0" anchor="ctr"/>
          <a:lstStyle/>
          <a:p>
            <a:pPr algn="ctr" indent="0" marL="0">
              <a:buNone/>
            </a:pPr>
            <a:r>
              <a:rPr lang="en-US" sz="850" b="1" dirty="0">
                <a:solidFill>
                  <a:srgbClr val="06301F"/>
                </a:solidFill>
                <a:latin typeface="Calibri" pitchFamily="34" charset="0"/>
                <a:ea typeface="Calibri" pitchFamily="34" charset="-122"/>
                <a:cs typeface="Calibri" pitchFamily="34" charset="-120"/>
              </a:rPr>
              <a:t>Completed</a:t>
            </a:r>
            <a:endParaRPr lang="en-US" sz="850" dirty="0"/>
          </a:p>
        </p:txBody>
      </p:sp>
      <p:sp>
        <p:nvSpPr>
          <p:cNvPr id="34" name="Shape 32"/>
          <p:cNvSpPr/>
          <p:nvPr/>
        </p:nvSpPr>
        <p:spPr>
          <a:xfrm>
            <a:off x="502920" y="4791456"/>
            <a:ext cx="3566160" cy="603504"/>
          </a:xfrm>
          <a:prstGeom prst="roundRect">
            <a:avLst>
              <a:gd name="adj" fmla="val 10606"/>
            </a:avLst>
          </a:prstGeom>
          <a:solidFill>
            <a:srgbClr val="1B2A4E"/>
          </a:solidFill>
          <a:ln/>
        </p:spPr>
      </p:sp>
      <p:sp>
        <p:nvSpPr>
          <p:cNvPr id="35" name="Shape 33"/>
          <p:cNvSpPr/>
          <p:nvPr/>
        </p:nvSpPr>
        <p:spPr>
          <a:xfrm>
            <a:off x="630936" y="4946904"/>
            <a:ext cx="292608" cy="292608"/>
          </a:xfrm>
          <a:prstGeom prst="ellipse">
            <a:avLst/>
          </a:prstGeom>
          <a:solidFill>
            <a:srgbClr val="223257"/>
          </a:solidFill>
          <a:ln/>
        </p:spPr>
      </p:sp>
      <p:sp>
        <p:nvSpPr>
          <p:cNvPr id="36" name="Text 34"/>
          <p:cNvSpPr/>
          <p:nvPr/>
        </p:nvSpPr>
        <p:spPr>
          <a:xfrm>
            <a:off x="630936" y="4946904"/>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d</a:t>
            </a:r>
            <a:endParaRPr lang="en-US" sz="950" dirty="0"/>
          </a:p>
        </p:txBody>
      </p:sp>
      <p:sp>
        <p:nvSpPr>
          <p:cNvPr id="37" name="Text 35"/>
          <p:cNvSpPr/>
          <p:nvPr/>
        </p:nvSpPr>
        <p:spPr>
          <a:xfrm>
            <a:off x="996696" y="4837176"/>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Auto Classification of Automation &amp; Manual Test Cases</a:t>
            </a:r>
            <a:endParaRPr lang="en-US" sz="950" dirty="0"/>
          </a:p>
        </p:txBody>
      </p:sp>
      <p:sp>
        <p:nvSpPr>
          <p:cNvPr id="38" name="Shape 36"/>
          <p:cNvSpPr/>
          <p:nvPr/>
        </p:nvSpPr>
        <p:spPr>
          <a:xfrm>
            <a:off x="3172968" y="4974336"/>
            <a:ext cx="786384" cy="237744"/>
          </a:xfrm>
          <a:prstGeom prst="roundRect">
            <a:avLst>
              <a:gd name="adj" fmla="val 50000"/>
            </a:avLst>
          </a:prstGeom>
          <a:solidFill>
            <a:srgbClr val="02C39A"/>
          </a:solidFill>
          <a:ln/>
        </p:spPr>
      </p:sp>
      <p:sp>
        <p:nvSpPr>
          <p:cNvPr id="39" name="Text 37"/>
          <p:cNvSpPr/>
          <p:nvPr/>
        </p:nvSpPr>
        <p:spPr>
          <a:xfrm>
            <a:off x="3172968" y="4974336"/>
            <a:ext cx="786384" cy="237744"/>
          </a:xfrm>
          <a:prstGeom prst="rect">
            <a:avLst/>
          </a:prstGeom>
          <a:noFill/>
          <a:ln/>
        </p:spPr>
        <p:txBody>
          <a:bodyPr wrap="square" lIns="0" tIns="0" rIns="0" bIns="0" rtlCol="0" anchor="ctr"/>
          <a:lstStyle/>
          <a:p>
            <a:pPr algn="ctr" indent="0" marL="0">
              <a:buNone/>
            </a:pPr>
            <a:r>
              <a:rPr lang="en-US" sz="850" b="1" dirty="0">
                <a:solidFill>
                  <a:srgbClr val="06301F"/>
                </a:solidFill>
                <a:latin typeface="Calibri" pitchFamily="34" charset="0"/>
                <a:ea typeface="Calibri" pitchFamily="34" charset="-122"/>
                <a:cs typeface="Calibri" pitchFamily="34" charset="-120"/>
              </a:rPr>
              <a:t>Completed</a:t>
            </a:r>
            <a:endParaRPr lang="en-US" sz="850" dirty="0"/>
          </a:p>
        </p:txBody>
      </p:sp>
      <p:sp>
        <p:nvSpPr>
          <p:cNvPr id="40" name="Shape 38"/>
          <p:cNvSpPr/>
          <p:nvPr/>
        </p:nvSpPr>
        <p:spPr>
          <a:xfrm>
            <a:off x="502920" y="5486400"/>
            <a:ext cx="3566160" cy="603504"/>
          </a:xfrm>
          <a:prstGeom prst="roundRect">
            <a:avLst>
              <a:gd name="adj" fmla="val 10606"/>
            </a:avLst>
          </a:prstGeom>
          <a:solidFill>
            <a:srgbClr val="1B2A4E"/>
          </a:solidFill>
          <a:ln/>
        </p:spPr>
      </p:sp>
      <p:sp>
        <p:nvSpPr>
          <p:cNvPr id="41" name="Shape 39"/>
          <p:cNvSpPr/>
          <p:nvPr/>
        </p:nvSpPr>
        <p:spPr>
          <a:xfrm>
            <a:off x="630936" y="5641848"/>
            <a:ext cx="292608" cy="292608"/>
          </a:xfrm>
          <a:prstGeom prst="ellipse">
            <a:avLst/>
          </a:prstGeom>
          <a:solidFill>
            <a:srgbClr val="223257"/>
          </a:solidFill>
          <a:ln/>
        </p:spPr>
      </p:sp>
      <p:sp>
        <p:nvSpPr>
          <p:cNvPr id="42" name="Text 40"/>
          <p:cNvSpPr/>
          <p:nvPr/>
        </p:nvSpPr>
        <p:spPr>
          <a:xfrm>
            <a:off x="630936" y="5641848"/>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e</a:t>
            </a:r>
            <a:endParaRPr lang="en-US" sz="950" dirty="0"/>
          </a:p>
        </p:txBody>
      </p:sp>
      <p:sp>
        <p:nvSpPr>
          <p:cNvPr id="43" name="Text 41"/>
          <p:cNvSpPr/>
          <p:nvPr/>
        </p:nvSpPr>
        <p:spPr>
          <a:xfrm>
            <a:off x="996696" y="5532120"/>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Test Execution Monitoring &amp; Status Sync with RQM</a:t>
            </a:r>
            <a:endParaRPr lang="en-US" sz="950" dirty="0"/>
          </a:p>
        </p:txBody>
      </p:sp>
      <p:sp>
        <p:nvSpPr>
          <p:cNvPr id="44" name="Shape 42"/>
          <p:cNvSpPr/>
          <p:nvPr/>
        </p:nvSpPr>
        <p:spPr>
          <a:xfrm>
            <a:off x="3172968" y="5669280"/>
            <a:ext cx="786384" cy="237744"/>
          </a:xfrm>
          <a:prstGeom prst="roundRect">
            <a:avLst>
              <a:gd name="adj" fmla="val 50000"/>
            </a:avLst>
          </a:prstGeom>
          <a:solidFill>
            <a:srgbClr val="5B7085"/>
          </a:solidFill>
          <a:ln/>
        </p:spPr>
      </p:sp>
      <p:sp>
        <p:nvSpPr>
          <p:cNvPr id="45" name="Text 43"/>
          <p:cNvSpPr/>
          <p:nvPr/>
        </p:nvSpPr>
        <p:spPr>
          <a:xfrm>
            <a:off x="3172968" y="5669280"/>
            <a:ext cx="78638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Planned</a:t>
            </a:r>
            <a:endParaRPr lang="en-US" sz="850" dirty="0"/>
          </a:p>
        </p:txBody>
      </p:sp>
      <p:sp>
        <p:nvSpPr>
          <p:cNvPr id="46" name="Shape 44"/>
          <p:cNvSpPr/>
          <p:nvPr/>
        </p:nvSpPr>
        <p:spPr>
          <a:xfrm>
            <a:off x="4315968" y="2706624"/>
            <a:ext cx="3566160" cy="603504"/>
          </a:xfrm>
          <a:prstGeom prst="roundRect">
            <a:avLst>
              <a:gd name="adj" fmla="val 10606"/>
            </a:avLst>
          </a:prstGeom>
          <a:solidFill>
            <a:srgbClr val="1B2A4E"/>
          </a:solidFill>
          <a:ln/>
        </p:spPr>
      </p:sp>
      <p:sp>
        <p:nvSpPr>
          <p:cNvPr id="47" name="Shape 45"/>
          <p:cNvSpPr/>
          <p:nvPr/>
        </p:nvSpPr>
        <p:spPr>
          <a:xfrm>
            <a:off x="4443984" y="2862072"/>
            <a:ext cx="292608" cy="292608"/>
          </a:xfrm>
          <a:prstGeom prst="ellipse">
            <a:avLst/>
          </a:prstGeom>
          <a:solidFill>
            <a:srgbClr val="223257"/>
          </a:solidFill>
          <a:ln/>
        </p:spPr>
      </p:sp>
      <p:sp>
        <p:nvSpPr>
          <p:cNvPr id="48" name="Text 46"/>
          <p:cNvSpPr/>
          <p:nvPr/>
        </p:nvSpPr>
        <p:spPr>
          <a:xfrm>
            <a:off x="4443984" y="2862072"/>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f</a:t>
            </a:r>
            <a:endParaRPr lang="en-US" sz="950" dirty="0"/>
          </a:p>
        </p:txBody>
      </p:sp>
      <p:sp>
        <p:nvSpPr>
          <p:cNvPr id="49" name="Text 47"/>
          <p:cNvSpPr/>
          <p:nvPr/>
        </p:nvSpPr>
        <p:spPr>
          <a:xfrm>
            <a:off x="4809744" y="2752344"/>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Automation Script Generation &amp; Script Maintenance</a:t>
            </a:r>
            <a:endParaRPr lang="en-US" sz="950" dirty="0"/>
          </a:p>
        </p:txBody>
      </p:sp>
      <p:sp>
        <p:nvSpPr>
          <p:cNvPr id="50" name="Shape 48"/>
          <p:cNvSpPr/>
          <p:nvPr/>
        </p:nvSpPr>
        <p:spPr>
          <a:xfrm>
            <a:off x="6986016" y="2889504"/>
            <a:ext cx="786384" cy="237744"/>
          </a:xfrm>
          <a:prstGeom prst="roundRect">
            <a:avLst>
              <a:gd name="adj" fmla="val 50000"/>
            </a:avLst>
          </a:prstGeom>
          <a:solidFill>
            <a:srgbClr val="E29B2C"/>
          </a:solidFill>
          <a:ln/>
        </p:spPr>
      </p:sp>
      <p:sp>
        <p:nvSpPr>
          <p:cNvPr id="51" name="Text 49"/>
          <p:cNvSpPr/>
          <p:nvPr/>
        </p:nvSpPr>
        <p:spPr>
          <a:xfrm>
            <a:off x="6986016" y="2889504"/>
            <a:ext cx="786384" cy="237744"/>
          </a:xfrm>
          <a:prstGeom prst="rect">
            <a:avLst/>
          </a:prstGeom>
          <a:noFill/>
          <a:ln/>
        </p:spPr>
        <p:txBody>
          <a:bodyPr wrap="square" lIns="0" tIns="0" rIns="0" bIns="0" rtlCol="0" anchor="ctr"/>
          <a:lstStyle/>
          <a:p>
            <a:pPr algn="ctr" indent="0" marL="0">
              <a:buNone/>
            </a:pPr>
            <a:r>
              <a:rPr lang="en-US" sz="850" b="1" dirty="0">
                <a:solidFill>
                  <a:srgbClr val="3A2405"/>
                </a:solidFill>
                <a:latin typeface="Calibri" pitchFamily="34" charset="0"/>
                <a:ea typeface="Calibri" pitchFamily="34" charset="-122"/>
                <a:cs typeface="Calibri" pitchFamily="34" charset="-120"/>
              </a:rPr>
              <a:t>In Progress</a:t>
            </a:r>
            <a:endParaRPr lang="en-US" sz="850" dirty="0"/>
          </a:p>
        </p:txBody>
      </p:sp>
      <p:sp>
        <p:nvSpPr>
          <p:cNvPr id="52" name="Shape 50"/>
          <p:cNvSpPr/>
          <p:nvPr/>
        </p:nvSpPr>
        <p:spPr>
          <a:xfrm>
            <a:off x="4315968" y="3401568"/>
            <a:ext cx="3566160" cy="603504"/>
          </a:xfrm>
          <a:prstGeom prst="roundRect">
            <a:avLst>
              <a:gd name="adj" fmla="val 10606"/>
            </a:avLst>
          </a:prstGeom>
          <a:solidFill>
            <a:srgbClr val="1B2A4E"/>
          </a:solidFill>
          <a:ln/>
        </p:spPr>
      </p:sp>
      <p:sp>
        <p:nvSpPr>
          <p:cNvPr id="53" name="Shape 51"/>
          <p:cNvSpPr/>
          <p:nvPr/>
        </p:nvSpPr>
        <p:spPr>
          <a:xfrm>
            <a:off x="4443984" y="3557016"/>
            <a:ext cx="292608" cy="292608"/>
          </a:xfrm>
          <a:prstGeom prst="ellipse">
            <a:avLst/>
          </a:prstGeom>
          <a:solidFill>
            <a:srgbClr val="223257"/>
          </a:solidFill>
          <a:ln/>
        </p:spPr>
      </p:sp>
      <p:sp>
        <p:nvSpPr>
          <p:cNvPr id="54" name="Text 52"/>
          <p:cNvSpPr/>
          <p:nvPr/>
        </p:nvSpPr>
        <p:spPr>
          <a:xfrm>
            <a:off x="4443984" y="3557016"/>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g</a:t>
            </a:r>
            <a:endParaRPr lang="en-US" sz="950" dirty="0"/>
          </a:p>
        </p:txBody>
      </p:sp>
      <p:sp>
        <p:nvSpPr>
          <p:cNvPr id="55" name="Text 53"/>
          <p:cNvSpPr/>
          <p:nvPr/>
        </p:nvSpPr>
        <p:spPr>
          <a:xfrm>
            <a:off x="4809744" y="3447288"/>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Regression Automation Execution &amp; Coverage Detection</a:t>
            </a:r>
            <a:endParaRPr lang="en-US" sz="950" dirty="0"/>
          </a:p>
        </p:txBody>
      </p:sp>
      <p:sp>
        <p:nvSpPr>
          <p:cNvPr id="56" name="Shape 54"/>
          <p:cNvSpPr/>
          <p:nvPr/>
        </p:nvSpPr>
        <p:spPr>
          <a:xfrm>
            <a:off x="6986016" y="3584448"/>
            <a:ext cx="786384" cy="237744"/>
          </a:xfrm>
          <a:prstGeom prst="roundRect">
            <a:avLst>
              <a:gd name="adj" fmla="val 50000"/>
            </a:avLst>
          </a:prstGeom>
          <a:solidFill>
            <a:srgbClr val="5B7085"/>
          </a:solidFill>
          <a:ln/>
        </p:spPr>
      </p:sp>
      <p:sp>
        <p:nvSpPr>
          <p:cNvPr id="57" name="Text 55"/>
          <p:cNvSpPr/>
          <p:nvPr/>
        </p:nvSpPr>
        <p:spPr>
          <a:xfrm>
            <a:off x="6986016" y="3584448"/>
            <a:ext cx="78638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Planned</a:t>
            </a:r>
            <a:endParaRPr lang="en-US" sz="850" dirty="0"/>
          </a:p>
        </p:txBody>
      </p:sp>
      <p:sp>
        <p:nvSpPr>
          <p:cNvPr id="58" name="Shape 56"/>
          <p:cNvSpPr/>
          <p:nvPr/>
        </p:nvSpPr>
        <p:spPr>
          <a:xfrm>
            <a:off x="4315968" y="4096512"/>
            <a:ext cx="3566160" cy="603504"/>
          </a:xfrm>
          <a:prstGeom prst="roundRect">
            <a:avLst>
              <a:gd name="adj" fmla="val 10606"/>
            </a:avLst>
          </a:prstGeom>
          <a:solidFill>
            <a:srgbClr val="1B2A4E"/>
          </a:solidFill>
          <a:ln/>
        </p:spPr>
      </p:sp>
      <p:sp>
        <p:nvSpPr>
          <p:cNvPr id="59" name="Shape 57"/>
          <p:cNvSpPr/>
          <p:nvPr/>
        </p:nvSpPr>
        <p:spPr>
          <a:xfrm>
            <a:off x="4443984" y="4251960"/>
            <a:ext cx="292608" cy="292608"/>
          </a:xfrm>
          <a:prstGeom prst="ellipse">
            <a:avLst/>
          </a:prstGeom>
          <a:solidFill>
            <a:srgbClr val="223257"/>
          </a:solidFill>
          <a:ln/>
        </p:spPr>
      </p:sp>
      <p:sp>
        <p:nvSpPr>
          <p:cNvPr id="60" name="Text 58"/>
          <p:cNvSpPr/>
          <p:nvPr/>
        </p:nvSpPr>
        <p:spPr>
          <a:xfrm>
            <a:off x="4443984" y="4251960"/>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h</a:t>
            </a:r>
            <a:endParaRPr lang="en-US" sz="950" dirty="0"/>
          </a:p>
        </p:txBody>
      </p:sp>
      <p:sp>
        <p:nvSpPr>
          <p:cNvPr id="61" name="Text 59"/>
          <p:cNvSpPr/>
          <p:nvPr/>
        </p:nvSpPr>
        <p:spPr>
          <a:xfrm>
            <a:off x="4809744" y="4142232"/>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Defect Sync with RTC</a:t>
            </a:r>
            <a:endParaRPr lang="en-US" sz="950" dirty="0"/>
          </a:p>
        </p:txBody>
      </p:sp>
      <p:sp>
        <p:nvSpPr>
          <p:cNvPr id="62" name="Shape 60"/>
          <p:cNvSpPr/>
          <p:nvPr/>
        </p:nvSpPr>
        <p:spPr>
          <a:xfrm>
            <a:off x="6986016" y="4279392"/>
            <a:ext cx="786384" cy="237744"/>
          </a:xfrm>
          <a:prstGeom prst="roundRect">
            <a:avLst>
              <a:gd name="adj" fmla="val 50000"/>
            </a:avLst>
          </a:prstGeom>
          <a:solidFill>
            <a:srgbClr val="5B7085"/>
          </a:solidFill>
          <a:ln/>
        </p:spPr>
      </p:sp>
      <p:sp>
        <p:nvSpPr>
          <p:cNvPr id="63" name="Text 61"/>
          <p:cNvSpPr/>
          <p:nvPr/>
        </p:nvSpPr>
        <p:spPr>
          <a:xfrm>
            <a:off x="6986016" y="4279392"/>
            <a:ext cx="78638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Planned</a:t>
            </a:r>
            <a:endParaRPr lang="en-US" sz="850" dirty="0"/>
          </a:p>
        </p:txBody>
      </p:sp>
      <p:sp>
        <p:nvSpPr>
          <p:cNvPr id="64" name="Shape 62"/>
          <p:cNvSpPr/>
          <p:nvPr/>
        </p:nvSpPr>
        <p:spPr>
          <a:xfrm>
            <a:off x="4315968" y="4791456"/>
            <a:ext cx="3566160" cy="603504"/>
          </a:xfrm>
          <a:prstGeom prst="roundRect">
            <a:avLst>
              <a:gd name="adj" fmla="val 10606"/>
            </a:avLst>
          </a:prstGeom>
          <a:solidFill>
            <a:srgbClr val="1B2A4E"/>
          </a:solidFill>
          <a:ln/>
        </p:spPr>
      </p:sp>
      <p:sp>
        <p:nvSpPr>
          <p:cNvPr id="65" name="Shape 63"/>
          <p:cNvSpPr/>
          <p:nvPr/>
        </p:nvSpPr>
        <p:spPr>
          <a:xfrm>
            <a:off x="4443984" y="4946904"/>
            <a:ext cx="292608" cy="292608"/>
          </a:xfrm>
          <a:prstGeom prst="ellipse">
            <a:avLst/>
          </a:prstGeom>
          <a:solidFill>
            <a:srgbClr val="223257"/>
          </a:solidFill>
          <a:ln/>
        </p:spPr>
      </p:sp>
      <p:sp>
        <p:nvSpPr>
          <p:cNvPr id="66" name="Text 64"/>
          <p:cNvSpPr/>
          <p:nvPr/>
        </p:nvSpPr>
        <p:spPr>
          <a:xfrm>
            <a:off x="4443984" y="4946904"/>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i</a:t>
            </a:r>
            <a:endParaRPr lang="en-US" sz="950" dirty="0"/>
          </a:p>
        </p:txBody>
      </p:sp>
      <p:sp>
        <p:nvSpPr>
          <p:cNvPr id="67" name="Text 65"/>
          <p:cNvSpPr/>
          <p:nvPr/>
        </p:nvSpPr>
        <p:spPr>
          <a:xfrm>
            <a:off x="4809744" y="4837176"/>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Test Execution Reporting — Daily, Weekly &amp; Monthly</a:t>
            </a:r>
            <a:endParaRPr lang="en-US" sz="950" dirty="0"/>
          </a:p>
        </p:txBody>
      </p:sp>
      <p:sp>
        <p:nvSpPr>
          <p:cNvPr id="68" name="Shape 66"/>
          <p:cNvSpPr/>
          <p:nvPr/>
        </p:nvSpPr>
        <p:spPr>
          <a:xfrm>
            <a:off x="6986016" y="4974336"/>
            <a:ext cx="786384" cy="237744"/>
          </a:xfrm>
          <a:prstGeom prst="roundRect">
            <a:avLst>
              <a:gd name="adj" fmla="val 50000"/>
            </a:avLst>
          </a:prstGeom>
          <a:solidFill>
            <a:srgbClr val="02C39A"/>
          </a:solidFill>
          <a:ln/>
        </p:spPr>
      </p:sp>
      <p:sp>
        <p:nvSpPr>
          <p:cNvPr id="69" name="Text 67"/>
          <p:cNvSpPr/>
          <p:nvPr/>
        </p:nvSpPr>
        <p:spPr>
          <a:xfrm>
            <a:off x="6986016" y="4974336"/>
            <a:ext cx="786384" cy="237744"/>
          </a:xfrm>
          <a:prstGeom prst="rect">
            <a:avLst/>
          </a:prstGeom>
          <a:noFill/>
          <a:ln/>
        </p:spPr>
        <p:txBody>
          <a:bodyPr wrap="square" lIns="0" tIns="0" rIns="0" bIns="0" rtlCol="0" anchor="ctr"/>
          <a:lstStyle/>
          <a:p>
            <a:pPr algn="ctr" indent="0" marL="0">
              <a:buNone/>
            </a:pPr>
            <a:r>
              <a:rPr lang="en-US" sz="850" b="1" dirty="0">
                <a:solidFill>
                  <a:srgbClr val="06301F"/>
                </a:solidFill>
                <a:latin typeface="Calibri" pitchFamily="34" charset="0"/>
                <a:ea typeface="Calibri" pitchFamily="34" charset="-122"/>
                <a:cs typeface="Calibri" pitchFamily="34" charset="-120"/>
              </a:rPr>
              <a:t>Completed</a:t>
            </a:r>
            <a:endParaRPr lang="en-US" sz="850" dirty="0"/>
          </a:p>
        </p:txBody>
      </p:sp>
      <p:sp>
        <p:nvSpPr>
          <p:cNvPr id="70" name="Shape 68"/>
          <p:cNvSpPr/>
          <p:nvPr/>
        </p:nvSpPr>
        <p:spPr>
          <a:xfrm>
            <a:off x="4315968" y="5486400"/>
            <a:ext cx="3566160" cy="603504"/>
          </a:xfrm>
          <a:prstGeom prst="roundRect">
            <a:avLst>
              <a:gd name="adj" fmla="val 10606"/>
            </a:avLst>
          </a:prstGeom>
          <a:solidFill>
            <a:srgbClr val="1B2A4E"/>
          </a:solidFill>
          <a:ln/>
        </p:spPr>
      </p:sp>
      <p:sp>
        <p:nvSpPr>
          <p:cNvPr id="71" name="Shape 69"/>
          <p:cNvSpPr/>
          <p:nvPr/>
        </p:nvSpPr>
        <p:spPr>
          <a:xfrm>
            <a:off x="4443984" y="5641848"/>
            <a:ext cx="292608" cy="292608"/>
          </a:xfrm>
          <a:prstGeom prst="ellipse">
            <a:avLst/>
          </a:prstGeom>
          <a:solidFill>
            <a:srgbClr val="223257"/>
          </a:solidFill>
          <a:ln/>
        </p:spPr>
      </p:sp>
      <p:sp>
        <p:nvSpPr>
          <p:cNvPr id="72" name="Text 70"/>
          <p:cNvSpPr/>
          <p:nvPr/>
        </p:nvSpPr>
        <p:spPr>
          <a:xfrm>
            <a:off x="4443984" y="5641848"/>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j</a:t>
            </a:r>
            <a:endParaRPr lang="en-US" sz="950" dirty="0"/>
          </a:p>
        </p:txBody>
      </p:sp>
      <p:sp>
        <p:nvSpPr>
          <p:cNvPr id="73" name="Text 71"/>
          <p:cNvSpPr/>
          <p:nvPr/>
        </p:nvSpPr>
        <p:spPr>
          <a:xfrm>
            <a:off x="4809744" y="5532120"/>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RAG &amp; Knowledge Base</a:t>
            </a:r>
            <a:endParaRPr lang="en-US" sz="950" dirty="0"/>
          </a:p>
        </p:txBody>
      </p:sp>
      <p:sp>
        <p:nvSpPr>
          <p:cNvPr id="74" name="Shape 72"/>
          <p:cNvSpPr/>
          <p:nvPr/>
        </p:nvSpPr>
        <p:spPr>
          <a:xfrm>
            <a:off x="6986016" y="5669280"/>
            <a:ext cx="786384" cy="237744"/>
          </a:xfrm>
          <a:prstGeom prst="roundRect">
            <a:avLst>
              <a:gd name="adj" fmla="val 50000"/>
            </a:avLst>
          </a:prstGeom>
          <a:solidFill>
            <a:srgbClr val="0E7C86"/>
          </a:solidFill>
          <a:ln/>
        </p:spPr>
      </p:sp>
      <p:sp>
        <p:nvSpPr>
          <p:cNvPr id="75" name="Text 73"/>
          <p:cNvSpPr/>
          <p:nvPr/>
        </p:nvSpPr>
        <p:spPr>
          <a:xfrm>
            <a:off x="6986016" y="5669280"/>
            <a:ext cx="78638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Partial</a:t>
            </a:r>
            <a:endParaRPr lang="en-US" sz="850" dirty="0"/>
          </a:p>
        </p:txBody>
      </p:sp>
      <p:sp>
        <p:nvSpPr>
          <p:cNvPr id="76" name="Shape 74"/>
          <p:cNvSpPr/>
          <p:nvPr/>
        </p:nvSpPr>
        <p:spPr>
          <a:xfrm>
            <a:off x="8129016" y="2706624"/>
            <a:ext cx="3566160" cy="603504"/>
          </a:xfrm>
          <a:prstGeom prst="roundRect">
            <a:avLst>
              <a:gd name="adj" fmla="val 10606"/>
            </a:avLst>
          </a:prstGeom>
          <a:solidFill>
            <a:srgbClr val="1B2A4E"/>
          </a:solidFill>
          <a:ln/>
        </p:spPr>
      </p:sp>
      <p:sp>
        <p:nvSpPr>
          <p:cNvPr id="77" name="Shape 75"/>
          <p:cNvSpPr/>
          <p:nvPr/>
        </p:nvSpPr>
        <p:spPr>
          <a:xfrm>
            <a:off x="8257032" y="2862072"/>
            <a:ext cx="292608" cy="292608"/>
          </a:xfrm>
          <a:prstGeom prst="ellipse">
            <a:avLst/>
          </a:prstGeom>
          <a:solidFill>
            <a:srgbClr val="223257"/>
          </a:solidFill>
          <a:ln/>
        </p:spPr>
      </p:sp>
      <p:sp>
        <p:nvSpPr>
          <p:cNvPr id="78" name="Text 76"/>
          <p:cNvSpPr/>
          <p:nvPr/>
        </p:nvSpPr>
        <p:spPr>
          <a:xfrm>
            <a:off x="8257032" y="2862072"/>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k</a:t>
            </a:r>
            <a:endParaRPr lang="en-US" sz="950" dirty="0"/>
          </a:p>
        </p:txBody>
      </p:sp>
      <p:sp>
        <p:nvSpPr>
          <p:cNvPr id="79" name="Text 77"/>
          <p:cNvSpPr/>
          <p:nvPr/>
        </p:nvSpPr>
        <p:spPr>
          <a:xfrm>
            <a:off x="8622792" y="2752344"/>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Training Centre</a:t>
            </a:r>
            <a:endParaRPr lang="en-US" sz="950" dirty="0"/>
          </a:p>
        </p:txBody>
      </p:sp>
      <p:sp>
        <p:nvSpPr>
          <p:cNvPr id="80" name="Shape 78"/>
          <p:cNvSpPr/>
          <p:nvPr/>
        </p:nvSpPr>
        <p:spPr>
          <a:xfrm>
            <a:off x="10799064" y="2889504"/>
            <a:ext cx="786384" cy="237744"/>
          </a:xfrm>
          <a:prstGeom prst="roundRect">
            <a:avLst>
              <a:gd name="adj" fmla="val 50000"/>
            </a:avLst>
          </a:prstGeom>
          <a:solidFill>
            <a:srgbClr val="5B7085"/>
          </a:solidFill>
          <a:ln/>
        </p:spPr>
      </p:sp>
      <p:sp>
        <p:nvSpPr>
          <p:cNvPr id="81" name="Text 79"/>
          <p:cNvSpPr/>
          <p:nvPr/>
        </p:nvSpPr>
        <p:spPr>
          <a:xfrm>
            <a:off x="10799064" y="2889504"/>
            <a:ext cx="78638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Planned</a:t>
            </a:r>
            <a:endParaRPr lang="en-US" sz="850" dirty="0"/>
          </a:p>
        </p:txBody>
      </p:sp>
      <p:sp>
        <p:nvSpPr>
          <p:cNvPr id="82" name="Shape 80"/>
          <p:cNvSpPr/>
          <p:nvPr/>
        </p:nvSpPr>
        <p:spPr>
          <a:xfrm>
            <a:off x="8129016" y="3401568"/>
            <a:ext cx="3566160" cy="603504"/>
          </a:xfrm>
          <a:prstGeom prst="roundRect">
            <a:avLst>
              <a:gd name="adj" fmla="val 10606"/>
            </a:avLst>
          </a:prstGeom>
          <a:solidFill>
            <a:srgbClr val="1B2A4E"/>
          </a:solidFill>
          <a:ln/>
        </p:spPr>
      </p:sp>
      <p:sp>
        <p:nvSpPr>
          <p:cNvPr id="83" name="Shape 81"/>
          <p:cNvSpPr/>
          <p:nvPr/>
        </p:nvSpPr>
        <p:spPr>
          <a:xfrm>
            <a:off x="8257032" y="3557016"/>
            <a:ext cx="292608" cy="292608"/>
          </a:xfrm>
          <a:prstGeom prst="ellipse">
            <a:avLst/>
          </a:prstGeom>
          <a:solidFill>
            <a:srgbClr val="223257"/>
          </a:solidFill>
          <a:ln/>
        </p:spPr>
      </p:sp>
      <p:sp>
        <p:nvSpPr>
          <p:cNvPr id="84" name="Text 82"/>
          <p:cNvSpPr/>
          <p:nvPr/>
        </p:nvSpPr>
        <p:spPr>
          <a:xfrm>
            <a:off x="8257032" y="3557016"/>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l</a:t>
            </a:r>
            <a:endParaRPr lang="en-US" sz="950" dirty="0"/>
          </a:p>
        </p:txBody>
      </p:sp>
      <p:sp>
        <p:nvSpPr>
          <p:cNvPr id="85" name="Text 83"/>
          <p:cNvSpPr/>
          <p:nvPr/>
        </p:nvSpPr>
        <p:spPr>
          <a:xfrm>
            <a:off x="8622792" y="3447288"/>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TC Execution for Automation (Progression)</a:t>
            </a:r>
            <a:endParaRPr lang="en-US" sz="950" dirty="0"/>
          </a:p>
        </p:txBody>
      </p:sp>
      <p:sp>
        <p:nvSpPr>
          <p:cNvPr id="86" name="Shape 84"/>
          <p:cNvSpPr/>
          <p:nvPr/>
        </p:nvSpPr>
        <p:spPr>
          <a:xfrm>
            <a:off x="10799064" y="3584448"/>
            <a:ext cx="786384" cy="237744"/>
          </a:xfrm>
          <a:prstGeom prst="roundRect">
            <a:avLst>
              <a:gd name="adj" fmla="val 50000"/>
            </a:avLst>
          </a:prstGeom>
          <a:solidFill>
            <a:srgbClr val="8894A8"/>
          </a:solidFill>
          <a:ln/>
        </p:spPr>
      </p:sp>
      <p:sp>
        <p:nvSpPr>
          <p:cNvPr id="87" name="Text 85"/>
          <p:cNvSpPr/>
          <p:nvPr/>
        </p:nvSpPr>
        <p:spPr>
          <a:xfrm>
            <a:off x="10799064" y="3584448"/>
            <a:ext cx="786384" cy="237744"/>
          </a:xfrm>
          <a:prstGeom prst="rect">
            <a:avLst/>
          </a:prstGeom>
          <a:noFill/>
          <a:ln/>
        </p:spPr>
        <p:txBody>
          <a:bodyPr wrap="square" lIns="0" tIns="0" rIns="0" bIns="0" rtlCol="0" anchor="ctr"/>
          <a:lstStyle/>
          <a:p>
            <a:pPr algn="ctr" indent="0" marL="0">
              <a:buNone/>
            </a:pPr>
            <a:r>
              <a:rPr lang="en-US" sz="850" b="1" dirty="0">
                <a:solidFill>
                  <a:srgbClr val="1B2A4E"/>
                </a:solidFill>
                <a:latin typeface="Calibri" pitchFamily="34" charset="0"/>
                <a:ea typeface="Calibri" pitchFamily="34" charset="-122"/>
                <a:cs typeface="Calibri" pitchFamily="34" charset="-120"/>
              </a:rPr>
              <a:t>TBD</a:t>
            </a:r>
            <a:endParaRPr lang="en-US" sz="850" dirty="0"/>
          </a:p>
        </p:txBody>
      </p:sp>
      <p:sp>
        <p:nvSpPr>
          <p:cNvPr id="88" name="Shape 86"/>
          <p:cNvSpPr/>
          <p:nvPr/>
        </p:nvSpPr>
        <p:spPr>
          <a:xfrm>
            <a:off x="8129016" y="4096512"/>
            <a:ext cx="3566160" cy="603504"/>
          </a:xfrm>
          <a:prstGeom prst="roundRect">
            <a:avLst>
              <a:gd name="adj" fmla="val 10606"/>
            </a:avLst>
          </a:prstGeom>
          <a:solidFill>
            <a:srgbClr val="1B2A4E"/>
          </a:solidFill>
          <a:ln/>
        </p:spPr>
      </p:sp>
      <p:sp>
        <p:nvSpPr>
          <p:cNvPr id="89" name="Shape 87"/>
          <p:cNvSpPr/>
          <p:nvPr/>
        </p:nvSpPr>
        <p:spPr>
          <a:xfrm>
            <a:off x="8257032" y="4251960"/>
            <a:ext cx="292608" cy="292608"/>
          </a:xfrm>
          <a:prstGeom prst="ellipse">
            <a:avLst/>
          </a:prstGeom>
          <a:solidFill>
            <a:srgbClr val="223257"/>
          </a:solidFill>
          <a:ln/>
        </p:spPr>
      </p:sp>
      <p:sp>
        <p:nvSpPr>
          <p:cNvPr id="90" name="Text 88"/>
          <p:cNvSpPr/>
          <p:nvPr/>
        </p:nvSpPr>
        <p:spPr>
          <a:xfrm>
            <a:off x="8257032" y="4251960"/>
            <a:ext cx="292608" cy="292608"/>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m</a:t>
            </a:r>
            <a:endParaRPr lang="en-US" sz="950" dirty="0"/>
          </a:p>
        </p:txBody>
      </p:sp>
      <p:sp>
        <p:nvSpPr>
          <p:cNvPr id="91" name="Text 89"/>
          <p:cNvSpPr/>
          <p:nvPr/>
        </p:nvSpPr>
        <p:spPr>
          <a:xfrm>
            <a:off x="8622792" y="4142232"/>
            <a:ext cx="2084832" cy="512064"/>
          </a:xfrm>
          <a:prstGeom prst="rect">
            <a:avLst/>
          </a:prstGeom>
          <a:noFill/>
          <a:ln/>
        </p:spPr>
        <p:txBody>
          <a:bodyPr wrap="square" lIns="0" tIns="0" rIns="0" bIns="0" rtlCol="0" anchor="ctr"/>
          <a:lstStyle/>
          <a:p>
            <a:pPr indent="0" marL="0">
              <a:lnSpc>
                <a:spcPts val="1200"/>
              </a:lnSpc>
              <a:buNone/>
            </a:pPr>
            <a:r>
              <a:rPr lang="en-US" sz="950" dirty="0">
                <a:solidFill>
                  <a:srgbClr val="E4EBF7"/>
                </a:solidFill>
                <a:latin typeface="Calibri" pitchFamily="34" charset="0"/>
                <a:ea typeface="Calibri" pitchFamily="34" charset="-122"/>
                <a:cs typeface="Calibri" pitchFamily="34" charset="-120"/>
              </a:rPr>
              <a:t>TC Execution Estimation of Manual TCs</a:t>
            </a:r>
            <a:endParaRPr lang="en-US" sz="950" dirty="0"/>
          </a:p>
        </p:txBody>
      </p:sp>
      <p:sp>
        <p:nvSpPr>
          <p:cNvPr id="92" name="Shape 90"/>
          <p:cNvSpPr/>
          <p:nvPr/>
        </p:nvSpPr>
        <p:spPr>
          <a:xfrm>
            <a:off x="10799064" y="4279392"/>
            <a:ext cx="786384" cy="237744"/>
          </a:xfrm>
          <a:prstGeom prst="roundRect">
            <a:avLst>
              <a:gd name="adj" fmla="val 50000"/>
            </a:avLst>
          </a:prstGeom>
          <a:solidFill>
            <a:srgbClr val="8894A8"/>
          </a:solidFill>
          <a:ln/>
        </p:spPr>
      </p:sp>
      <p:sp>
        <p:nvSpPr>
          <p:cNvPr id="93" name="Text 91"/>
          <p:cNvSpPr/>
          <p:nvPr/>
        </p:nvSpPr>
        <p:spPr>
          <a:xfrm>
            <a:off x="10799064" y="4279392"/>
            <a:ext cx="786384" cy="237744"/>
          </a:xfrm>
          <a:prstGeom prst="rect">
            <a:avLst/>
          </a:prstGeom>
          <a:noFill/>
          <a:ln/>
        </p:spPr>
        <p:txBody>
          <a:bodyPr wrap="square" lIns="0" tIns="0" rIns="0" bIns="0" rtlCol="0" anchor="ctr"/>
          <a:lstStyle/>
          <a:p>
            <a:pPr algn="ctr" indent="0" marL="0">
              <a:buNone/>
            </a:pPr>
            <a:r>
              <a:rPr lang="en-US" sz="850" b="1" dirty="0">
                <a:solidFill>
                  <a:srgbClr val="1B2A4E"/>
                </a:solidFill>
                <a:latin typeface="Calibri" pitchFamily="34" charset="0"/>
                <a:ea typeface="Calibri" pitchFamily="34" charset="-122"/>
                <a:cs typeface="Calibri" pitchFamily="34" charset="-120"/>
              </a:rPr>
              <a:t>TBD</a:t>
            </a:r>
            <a:endParaRPr lang="en-US" sz="850" dirty="0"/>
          </a:p>
        </p:txBody>
      </p:sp>
      <p:sp>
        <p:nvSpPr>
          <p:cNvPr id="94" name="Text 92"/>
          <p:cNvSpPr/>
          <p:nvPr/>
        </p:nvSpPr>
        <p:spPr>
          <a:xfrm>
            <a:off x="502920" y="6272784"/>
            <a:ext cx="11185855" cy="256032"/>
          </a:xfrm>
          <a:prstGeom prst="rect">
            <a:avLst/>
          </a:prstGeom>
          <a:noFill/>
          <a:ln/>
        </p:spPr>
        <p:txBody>
          <a:bodyPr wrap="square" lIns="0" tIns="0" rIns="0" bIns="0" rtlCol="0" anchor="ctr"/>
          <a:lstStyle/>
          <a:p>
            <a:pPr indent="0" marL="0">
              <a:buNone/>
            </a:pPr>
            <a:r>
              <a:rPr lang="en-US" sz="900" i="1" dirty="0">
                <a:solidFill>
                  <a:srgbClr val="7E8DAC"/>
                </a:solidFill>
                <a:latin typeface="Calibri" pitchFamily="34" charset="0"/>
                <a:ea typeface="Calibri" pitchFamily="34" charset="-122"/>
                <a:cs typeface="Calibri" pitchFamily="34" charset="-120"/>
              </a:rPr>
              <a:t>Completed = live in the platform  •  In Progress = under active build  •  Planned = scheduled  •  Partial = foundation delivered  •  TBD = scoping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85855" cy="237744"/>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02920" y="585216"/>
            <a:ext cx="11185855" cy="566928"/>
          </a:xfrm>
          <a:prstGeom prst="rect">
            <a:avLst/>
          </a:prstGeom>
          <a:noFill/>
          <a:ln/>
        </p:spPr>
        <p:txBody>
          <a:bodyPr wrap="square" lIns="0" tIns="0" rIns="0" bIns="0" rtlCol="0" anchor="ctr"/>
          <a:lstStyle/>
          <a:p>
            <a:pPr indent="0" marL="0">
              <a:buNone/>
            </a:pPr>
            <a:r>
              <a:rPr lang="en-US" sz="3200" b="1" dirty="0">
                <a:solidFill>
                  <a:srgbClr val="16233F"/>
                </a:solidFill>
                <a:latin typeface="Cambria" pitchFamily="34" charset="0"/>
                <a:ea typeface="Cambria" pitchFamily="34" charset="-122"/>
                <a:cs typeface="Cambria" pitchFamily="34" charset="-120"/>
              </a:rPr>
              <a:t>Technology Stack</a:t>
            </a:r>
            <a:endParaRPr lang="en-US" sz="3200" dirty="0"/>
          </a:p>
        </p:txBody>
      </p:sp>
      <p:sp>
        <p:nvSpPr>
          <p:cNvPr id="4" name="Shape 2"/>
          <p:cNvSpPr/>
          <p:nvPr/>
        </p:nvSpPr>
        <p:spPr>
          <a:xfrm>
            <a:off x="502920" y="1335024"/>
            <a:ext cx="3566160" cy="1572768"/>
          </a:xfrm>
          <a:prstGeom prst="roundRect">
            <a:avLst>
              <a:gd name="adj" fmla="val 4651"/>
            </a:avLst>
          </a:prstGeom>
          <a:solidFill>
            <a:srgbClr val="F1F4F8"/>
          </a:solidFill>
          <a:ln w="9525">
            <a:solidFill>
              <a:srgbClr val="D8DFE8"/>
            </a:solidFill>
            <a:prstDash val="solid"/>
          </a:ln>
        </p:spPr>
      </p:sp>
      <p:sp>
        <p:nvSpPr>
          <p:cNvPr id="5" name="Shape 3"/>
          <p:cNvSpPr/>
          <p:nvPr/>
        </p:nvSpPr>
        <p:spPr>
          <a:xfrm>
            <a:off x="722376" y="1554480"/>
            <a:ext cx="384048" cy="384048"/>
          </a:xfrm>
          <a:prstGeom prst="ellipse">
            <a:avLst/>
          </a:prstGeom>
          <a:solidFill>
            <a:srgbClr val="0E7C86"/>
          </a:solidFill>
          <a:ln/>
        </p:spPr>
      </p:sp>
      <p:sp>
        <p:nvSpPr>
          <p:cNvPr id="6" name="Text 4"/>
          <p:cNvSpPr/>
          <p:nvPr/>
        </p:nvSpPr>
        <p:spPr>
          <a:xfrm>
            <a:off x="722376" y="155448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01</a:t>
            </a:r>
            <a:endParaRPr lang="en-US" sz="950" dirty="0"/>
          </a:p>
        </p:txBody>
      </p:sp>
      <p:sp>
        <p:nvSpPr>
          <p:cNvPr id="7" name="Text 5"/>
          <p:cNvSpPr/>
          <p:nvPr/>
        </p:nvSpPr>
        <p:spPr>
          <a:xfrm>
            <a:off x="1216152" y="1572768"/>
            <a:ext cx="2651760" cy="347472"/>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Application Layer</a:t>
            </a:r>
            <a:endParaRPr lang="en-US" sz="1400" dirty="0"/>
          </a:p>
        </p:txBody>
      </p:sp>
      <p:sp>
        <p:nvSpPr>
          <p:cNvPr id="8" name="Text 6"/>
          <p:cNvSpPr/>
          <p:nvPr/>
        </p:nvSpPr>
        <p:spPr>
          <a:xfrm>
            <a:off x="722376" y="2048256"/>
            <a:ext cx="3127248" cy="713232"/>
          </a:xfrm>
          <a:prstGeom prst="rect">
            <a:avLst/>
          </a:prstGeom>
          <a:noFill/>
          <a:ln/>
        </p:spPr>
        <p:txBody>
          <a:bodyPr wrap="square" lIns="0" tIns="0" rIns="0" bIns="0" rtlCol="0" anchor="ctr"/>
          <a:lstStyle/>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Next.js  •  React  •  TypeScript</a:t>
            </a:r>
            <a:endParaRPr lang="en-US" sz="1050" dirty="0"/>
          </a:p>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FastAPI  •  Python</a:t>
            </a:r>
            <a:endParaRPr lang="en-US" sz="1050" dirty="0"/>
          </a:p>
        </p:txBody>
      </p:sp>
      <p:sp>
        <p:nvSpPr>
          <p:cNvPr id="9" name="Shape 7"/>
          <p:cNvSpPr/>
          <p:nvPr/>
        </p:nvSpPr>
        <p:spPr>
          <a:xfrm>
            <a:off x="4315968" y="1335024"/>
            <a:ext cx="3566160" cy="1572768"/>
          </a:xfrm>
          <a:prstGeom prst="roundRect">
            <a:avLst>
              <a:gd name="adj" fmla="val 4651"/>
            </a:avLst>
          </a:prstGeom>
          <a:solidFill>
            <a:srgbClr val="F1F4F8"/>
          </a:solidFill>
          <a:ln w="9525">
            <a:solidFill>
              <a:srgbClr val="D8DFE8"/>
            </a:solidFill>
            <a:prstDash val="solid"/>
          </a:ln>
        </p:spPr>
      </p:sp>
      <p:sp>
        <p:nvSpPr>
          <p:cNvPr id="10" name="Shape 8"/>
          <p:cNvSpPr/>
          <p:nvPr/>
        </p:nvSpPr>
        <p:spPr>
          <a:xfrm>
            <a:off x="4535424" y="1554480"/>
            <a:ext cx="384048" cy="384048"/>
          </a:xfrm>
          <a:prstGeom prst="ellipse">
            <a:avLst/>
          </a:prstGeom>
          <a:solidFill>
            <a:srgbClr val="0E7C86"/>
          </a:solidFill>
          <a:ln/>
        </p:spPr>
      </p:sp>
      <p:sp>
        <p:nvSpPr>
          <p:cNvPr id="11" name="Text 9"/>
          <p:cNvSpPr/>
          <p:nvPr/>
        </p:nvSpPr>
        <p:spPr>
          <a:xfrm>
            <a:off x="4535424" y="155448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02</a:t>
            </a:r>
            <a:endParaRPr lang="en-US" sz="950" dirty="0"/>
          </a:p>
        </p:txBody>
      </p:sp>
      <p:sp>
        <p:nvSpPr>
          <p:cNvPr id="12" name="Text 10"/>
          <p:cNvSpPr/>
          <p:nvPr/>
        </p:nvSpPr>
        <p:spPr>
          <a:xfrm>
            <a:off x="5029200" y="1572768"/>
            <a:ext cx="2651760" cy="347472"/>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Data &amp; Knowledge Layer</a:t>
            </a:r>
            <a:endParaRPr lang="en-US" sz="1400" dirty="0"/>
          </a:p>
        </p:txBody>
      </p:sp>
      <p:sp>
        <p:nvSpPr>
          <p:cNvPr id="13" name="Text 11"/>
          <p:cNvSpPr/>
          <p:nvPr/>
        </p:nvSpPr>
        <p:spPr>
          <a:xfrm>
            <a:off x="4535424" y="2048256"/>
            <a:ext cx="3127248" cy="713232"/>
          </a:xfrm>
          <a:prstGeom prst="rect">
            <a:avLst/>
          </a:prstGeom>
          <a:noFill/>
          <a:ln/>
        </p:spPr>
        <p:txBody>
          <a:bodyPr wrap="square" lIns="0" tIns="0" rIns="0" bIns="0" rtlCol="0" anchor="ctr"/>
          <a:lstStyle/>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PostgreSQL  •  pgvector  •  Redis</a:t>
            </a:r>
            <a:endParaRPr lang="en-US" sz="1050" dirty="0"/>
          </a:p>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RAG Knowledge Base</a:t>
            </a:r>
            <a:endParaRPr lang="en-US" sz="1050" dirty="0"/>
          </a:p>
        </p:txBody>
      </p:sp>
      <p:sp>
        <p:nvSpPr>
          <p:cNvPr id="14" name="Shape 12"/>
          <p:cNvSpPr/>
          <p:nvPr/>
        </p:nvSpPr>
        <p:spPr>
          <a:xfrm>
            <a:off x="8129016" y="1335024"/>
            <a:ext cx="3566160" cy="1572768"/>
          </a:xfrm>
          <a:prstGeom prst="roundRect">
            <a:avLst>
              <a:gd name="adj" fmla="val 4651"/>
            </a:avLst>
          </a:prstGeom>
          <a:solidFill>
            <a:srgbClr val="F1F4F8"/>
          </a:solidFill>
          <a:ln w="9525">
            <a:solidFill>
              <a:srgbClr val="D8DFE8"/>
            </a:solidFill>
            <a:prstDash val="solid"/>
          </a:ln>
        </p:spPr>
      </p:sp>
      <p:sp>
        <p:nvSpPr>
          <p:cNvPr id="15" name="Shape 13"/>
          <p:cNvSpPr/>
          <p:nvPr/>
        </p:nvSpPr>
        <p:spPr>
          <a:xfrm>
            <a:off x="8348472" y="1554480"/>
            <a:ext cx="384048" cy="384048"/>
          </a:xfrm>
          <a:prstGeom prst="ellipse">
            <a:avLst/>
          </a:prstGeom>
          <a:solidFill>
            <a:srgbClr val="0E7C86"/>
          </a:solidFill>
          <a:ln/>
        </p:spPr>
      </p:sp>
      <p:sp>
        <p:nvSpPr>
          <p:cNvPr id="16" name="Text 14"/>
          <p:cNvSpPr/>
          <p:nvPr/>
        </p:nvSpPr>
        <p:spPr>
          <a:xfrm>
            <a:off x="8348472" y="155448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03</a:t>
            </a:r>
            <a:endParaRPr lang="en-US" sz="950" dirty="0"/>
          </a:p>
        </p:txBody>
      </p:sp>
      <p:sp>
        <p:nvSpPr>
          <p:cNvPr id="17" name="Text 15"/>
          <p:cNvSpPr/>
          <p:nvPr/>
        </p:nvSpPr>
        <p:spPr>
          <a:xfrm>
            <a:off x="8842248" y="1572768"/>
            <a:ext cx="2651760" cy="347472"/>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AI &amp; Agent Layer</a:t>
            </a:r>
            <a:endParaRPr lang="en-US" sz="1400" dirty="0"/>
          </a:p>
        </p:txBody>
      </p:sp>
      <p:sp>
        <p:nvSpPr>
          <p:cNvPr id="18" name="Text 16"/>
          <p:cNvSpPr/>
          <p:nvPr/>
        </p:nvSpPr>
        <p:spPr>
          <a:xfrm>
            <a:off x="8348472" y="2048256"/>
            <a:ext cx="3127248" cy="713232"/>
          </a:xfrm>
          <a:prstGeom prst="rect">
            <a:avLst/>
          </a:prstGeom>
          <a:noFill/>
          <a:ln/>
        </p:spPr>
        <p:txBody>
          <a:bodyPr wrap="square" lIns="0" tIns="0" rIns="0" bIns="0" rtlCol="0" anchor="ctr"/>
          <a:lstStyle/>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LangChain  •  LangGraph  •  MCP</a:t>
            </a:r>
            <a:endParaRPr lang="en-US" sz="1050" dirty="0"/>
          </a:p>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OpenAI-compatible APIs  •  Ollama / AI Gateway</a:t>
            </a:r>
            <a:endParaRPr lang="en-US" sz="1050" dirty="0"/>
          </a:p>
        </p:txBody>
      </p:sp>
      <p:sp>
        <p:nvSpPr>
          <p:cNvPr id="19" name="Shape 17"/>
          <p:cNvSpPr/>
          <p:nvPr/>
        </p:nvSpPr>
        <p:spPr>
          <a:xfrm>
            <a:off x="502920" y="3127248"/>
            <a:ext cx="3566160" cy="1572768"/>
          </a:xfrm>
          <a:prstGeom prst="roundRect">
            <a:avLst>
              <a:gd name="adj" fmla="val 4651"/>
            </a:avLst>
          </a:prstGeom>
          <a:solidFill>
            <a:srgbClr val="F1F4F8"/>
          </a:solidFill>
          <a:ln w="9525">
            <a:solidFill>
              <a:srgbClr val="D8DFE8"/>
            </a:solidFill>
            <a:prstDash val="solid"/>
          </a:ln>
        </p:spPr>
      </p:sp>
      <p:sp>
        <p:nvSpPr>
          <p:cNvPr id="20" name="Shape 18"/>
          <p:cNvSpPr/>
          <p:nvPr/>
        </p:nvSpPr>
        <p:spPr>
          <a:xfrm>
            <a:off x="722376" y="3346704"/>
            <a:ext cx="384048" cy="384048"/>
          </a:xfrm>
          <a:prstGeom prst="ellipse">
            <a:avLst/>
          </a:prstGeom>
          <a:solidFill>
            <a:srgbClr val="0E7C86"/>
          </a:solidFill>
          <a:ln/>
        </p:spPr>
      </p:sp>
      <p:sp>
        <p:nvSpPr>
          <p:cNvPr id="21" name="Text 19"/>
          <p:cNvSpPr/>
          <p:nvPr/>
        </p:nvSpPr>
        <p:spPr>
          <a:xfrm>
            <a:off x="722376" y="3346704"/>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04</a:t>
            </a:r>
            <a:endParaRPr lang="en-US" sz="950" dirty="0"/>
          </a:p>
        </p:txBody>
      </p:sp>
      <p:sp>
        <p:nvSpPr>
          <p:cNvPr id="22" name="Text 20"/>
          <p:cNvSpPr/>
          <p:nvPr/>
        </p:nvSpPr>
        <p:spPr>
          <a:xfrm>
            <a:off x="1216152" y="3364992"/>
            <a:ext cx="2651760" cy="347472"/>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Automation Layer</a:t>
            </a:r>
            <a:endParaRPr lang="en-US" sz="1400" dirty="0"/>
          </a:p>
        </p:txBody>
      </p:sp>
      <p:sp>
        <p:nvSpPr>
          <p:cNvPr id="23" name="Text 21"/>
          <p:cNvSpPr/>
          <p:nvPr/>
        </p:nvSpPr>
        <p:spPr>
          <a:xfrm>
            <a:off x="722376" y="3840480"/>
            <a:ext cx="3127248" cy="713232"/>
          </a:xfrm>
          <a:prstGeom prst="rect">
            <a:avLst/>
          </a:prstGeom>
          <a:noFill/>
          <a:ln/>
        </p:spPr>
        <p:txBody>
          <a:bodyPr wrap="square" lIns="0" tIns="0" rIns="0" bIns="0" rtlCol="0" anchor="ctr"/>
          <a:lstStyle/>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Playwright  •  Playwright MCP</a:t>
            </a:r>
            <a:endParaRPr lang="en-US" sz="1050" dirty="0"/>
          </a:p>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Selenium  •  Appium  •  Katalon</a:t>
            </a:r>
            <a:endParaRPr lang="en-US" sz="1050" dirty="0"/>
          </a:p>
        </p:txBody>
      </p:sp>
      <p:sp>
        <p:nvSpPr>
          <p:cNvPr id="24" name="Shape 22"/>
          <p:cNvSpPr/>
          <p:nvPr/>
        </p:nvSpPr>
        <p:spPr>
          <a:xfrm>
            <a:off x="4315968" y="3127248"/>
            <a:ext cx="3566160" cy="1572768"/>
          </a:xfrm>
          <a:prstGeom prst="roundRect">
            <a:avLst>
              <a:gd name="adj" fmla="val 4651"/>
            </a:avLst>
          </a:prstGeom>
          <a:solidFill>
            <a:srgbClr val="F1F4F8"/>
          </a:solidFill>
          <a:ln w="9525">
            <a:solidFill>
              <a:srgbClr val="D8DFE8"/>
            </a:solidFill>
            <a:prstDash val="solid"/>
          </a:ln>
        </p:spPr>
      </p:sp>
      <p:sp>
        <p:nvSpPr>
          <p:cNvPr id="25" name="Shape 23"/>
          <p:cNvSpPr/>
          <p:nvPr/>
        </p:nvSpPr>
        <p:spPr>
          <a:xfrm>
            <a:off x="4535424" y="3346704"/>
            <a:ext cx="384048" cy="384048"/>
          </a:xfrm>
          <a:prstGeom prst="ellipse">
            <a:avLst/>
          </a:prstGeom>
          <a:solidFill>
            <a:srgbClr val="0E7C86"/>
          </a:solidFill>
          <a:ln/>
        </p:spPr>
      </p:sp>
      <p:sp>
        <p:nvSpPr>
          <p:cNvPr id="26" name="Text 24"/>
          <p:cNvSpPr/>
          <p:nvPr/>
        </p:nvSpPr>
        <p:spPr>
          <a:xfrm>
            <a:off x="4535424" y="3346704"/>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05</a:t>
            </a:r>
            <a:endParaRPr lang="en-US" sz="950" dirty="0"/>
          </a:p>
        </p:txBody>
      </p:sp>
      <p:sp>
        <p:nvSpPr>
          <p:cNvPr id="27" name="Text 25"/>
          <p:cNvSpPr/>
          <p:nvPr/>
        </p:nvSpPr>
        <p:spPr>
          <a:xfrm>
            <a:off x="5029200" y="3364992"/>
            <a:ext cx="2651760" cy="347472"/>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Execution &amp; Infrastructure</a:t>
            </a:r>
            <a:endParaRPr lang="en-US" sz="1400" dirty="0"/>
          </a:p>
        </p:txBody>
      </p:sp>
      <p:sp>
        <p:nvSpPr>
          <p:cNvPr id="28" name="Text 26"/>
          <p:cNvSpPr/>
          <p:nvPr/>
        </p:nvSpPr>
        <p:spPr>
          <a:xfrm>
            <a:off x="4535424" y="3840480"/>
            <a:ext cx="3127248" cy="713232"/>
          </a:xfrm>
          <a:prstGeom prst="rect">
            <a:avLst/>
          </a:prstGeom>
          <a:noFill/>
          <a:ln/>
        </p:spPr>
        <p:txBody>
          <a:bodyPr wrap="square" lIns="0" tIns="0" rIns="0" bIns="0" rtlCol="0" anchor="ctr"/>
          <a:lstStyle/>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Docker  •  Docker Compose  •  Celery Workers</a:t>
            </a:r>
            <a:endParaRPr lang="en-US" sz="1050" dirty="0"/>
          </a:p>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Nginx  •  Linux Server</a:t>
            </a:r>
            <a:endParaRPr lang="en-US" sz="1050" dirty="0"/>
          </a:p>
        </p:txBody>
      </p:sp>
      <p:sp>
        <p:nvSpPr>
          <p:cNvPr id="29" name="Shape 27"/>
          <p:cNvSpPr/>
          <p:nvPr/>
        </p:nvSpPr>
        <p:spPr>
          <a:xfrm>
            <a:off x="8129016" y="3127248"/>
            <a:ext cx="3566160" cy="1572768"/>
          </a:xfrm>
          <a:prstGeom prst="roundRect">
            <a:avLst>
              <a:gd name="adj" fmla="val 4651"/>
            </a:avLst>
          </a:prstGeom>
          <a:solidFill>
            <a:srgbClr val="F1F4F8"/>
          </a:solidFill>
          <a:ln w="9525">
            <a:solidFill>
              <a:srgbClr val="D8DFE8"/>
            </a:solidFill>
            <a:prstDash val="solid"/>
          </a:ln>
        </p:spPr>
      </p:sp>
      <p:sp>
        <p:nvSpPr>
          <p:cNvPr id="30" name="Shape 28"/>
          <p:cNvSpPr/>
          <p:nvPr/>
        </p:nvSpPr>
        <p:spPr>
          <a:xfrm>
            <a:off x="8348472" y="3346704"/>
            <a:ext cx="384048" cy="384048"/>
          </a:xfrm>
          <a:prstGeom prst="ellipse">
            <a:avLst/>
          </a:prstGeom>
          <a:solidFill>
            <a:srgbClr val="0E7C86"/>
          </a:solidFill>
          <a:ln/>
        </p:spPr>
      </p:sp>
      <p:sp>
        <p:nvSpPr>
          <p:cNvPr id="31" name="Text 29"/>
          <p:cNvSpPr/>
          <p:nvPr/>
        </p:nvSpPr>
        <p:spPr>
          <a:xfrm>
            <a:off x="8348472" y="3346704"/>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06</a:t>
            </a:r>
            <a:endParaRPr lang="en-US" sz="950" dirty="0"/>
          </a:p>
        </p:txBody>
      </p:sp>
      <p:sp>
        <p:nvSpPr>
          <p:cNvPr id="32" name="Text 30"/>
          <p:cNvSpPr/>
          <p:nvPr/>
        </p:nvSpPr>
        <p:spPr>
          <a:xfrm>
            <a:off x="8842248" y="3364992"/>
            <a:ext cx="2651760" cy="347472"/>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Integrations &amp; Governance</a:t>
            </a:r>
            <a:endParaRPr lang="en-US" sz="1400" dirty="0"/>
          </a:p>
        </p:txBody>
      </p:sp>
      <p:sp>
        <p:nvSpPr>
          <p:cNvPr id="33" name="Text 31"/>
          <p:cNvSpPr/>
          <p:nvPr/>
        </p:nvSpPr>
        <p:spPr>
          <a:xfrm>
            <a:off x="8348472" y="3840480"/>
            <a:ext cx="3127248" cy="713232"/>
          </a:xfrm>
          <a:prstGeom prst="rect">
            <a:avLst/>
          </a:prstGeom>
          <a:noFill/>
          <a:ln/>
        </p:spPr>
        <p:txBody>
          <a:bodyPr wrap="square" lIns="0" tIns="0" rIns="0" bIns="0" rtlCol="0" anchor="ctr"/>
          <a:lstStyle/>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Jira  •  Test evidence  •  Reports</a:t>
            </a:r>
            <a:endParaRPr lang="en-US" sz="1050" dirty="0"/>
          </a:p>
          <a:p>
            <a:pPr indent="0" marL="0">
              <a:lnSpc>
                <a:spcPts val="1500"/>
              </a:lnSpc>
              <a:buNone/>
            </a:pPr>
            <a:r>
              <a:rPr lang="en-US" sz="1050" dirty="0">
                <a:solidFill>
                  <a:srgbClr val="5C6B84"/>
                </a:solidFill>
                <a:latin typeface="Calibri" pitchFamily="34" charset="0"/>
                <a:ea typeface="Calibri" pitchFamily="34" charset="-122"/>
                <a:cs typeface="Calibri" pitchFamily="34" charset="-120"/>
              </a:rPr>
              <a:t>Screenshots  •  Traces  •  Audit logs</a:t>
            </a:r>
            <a:endParaRPr lang="en-US" sz="1050" dirty="0"/>
          </a:p>
        </p:txBody>
      </p:sp>
      <p:sp>
        <p:nvSpPr>
          <p:cNvPr id="34" name="Shape 32"/>
          <p:cNvSpPr/>
          <p:nvPr/>
        </p:nvSpPr>
        <p:spPr>
          <a:xfrm>
            <a:off x="502920" y="5138928"/>
            <a:ext cx="11185855" cy="914400"/>
          </a:xfrm>
          <a:prstGeom prst="roundRect">
            <a:avLst>
              <a:gd name="adj" fmla="val 8000"/>
            </a:avLst>
          </a:prstGeom>
          <a:solidFill>
            <a:srgbClr val="0D1730"/>
          </a:solidFill>
          <a:ln/>
        </p:spPr>
      </p:sp>
      <p:sp>
        <p:nvSpPr>
          <p:cNvPr id="35" name="Text 33"/>
          <p:cNvSpPr/>
          <p:nvPr/>
        </p:nvSpPr>
        <p:spPr>
          <a:xfrm>
            <a:off x="813816" y="5285232"/>
            <a:ext cx="2194560" cy="219456"/>
          </a:xfrm>
          <a:prstGeom prst="rect">
            <a:avLst/>
          </a:prstGeom>
          <a:noFill/>
          <a:ln/>
        </p:spPr>
        <p:txBody>
          <a:bodyPr wrap="square" lIns="0" tIns="0" rIns="0" bIns="0" rtlCol="0" anchor="ctr"/>
          <a:lstStyle/>
          <a:p>
            <a:pPr indent="0" marL="0">
              <a:buNone/>
            </a:pPr>
            <a:r>
              <a:rPr lang="en-US" sz="950" b="1" spc="140" kern="0" dirty="0">
                <a:solidFill>
                  <a:srgbClr val="02C39A"/>
                </a:solidFill>
                <a:latin typeface="Calibri" pitchFamily="34" charset="0"/>
                <a:ea typeface="Calibri" pitchFamily="34" charset="-122"/>
                <a:cs typeface="Calibri" pitchFamily="34" charset="-120"/>
              </a:rPr>
              <a:t>KEY MESSAGE</a:t>
            </a:r>
            <a:endParaRPr lang="en-US" sz="950" dirty="0"/>
          </a:p>
        </p:txBody>
      </p:sp>
      <p:sp>
        <p:nvSpPr>
          <p:cNvPr id="36" name="Text 34"/>
          <p:cNvSpPr/>
          <p:nvPr/>
        </p:nvSpPr>
        <p:spPr>
          <a:xfrm>
            <a:off x="813816" y="5504688"/>
            <a:ext cx="10564063" cy="402336"/>
          </a:xfrm>
          <a:prstGeom prst="rect">
            <a:avLst/>
          </a:prstGeom>
          <a:noFill/>
          <a:ln/>
        </p:spPr>
        <p:txBody>
          <a:bodyPr wrap="square" lIns="0" tIns="0" rIns="0" bIns="0" rtlCol="0" anchor="ctr"/>
          <a:lstStyle/>
          <a:p>
            <a:pPr indent="0" marL="0">
              <a:buNone/>
            </a:pPr>
            <a:r>
              <a:rPr lang="en-US" sz="1300" dirty="0">
                <a:solidFill>
                  <a:srgbClr val="E4EBF7"/>
                </a:solidFill>
                <a:latin typeface="Calibri" pitchFamily="34" charset="0"/>
                <a:ea typeface="Calibri" pitchFamily="34" charset="-122"/>
                <a:cs typeface="Calibri" pitchFamily="34" charset="-120"/>
              </a:rPr>
              <a:t>A modular, AI-powered testing platform combining test management, automation execution, RAG knowledge and enterprise governance.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85855" cy="237744"/>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DELIVERY ROADMAP</a:t>
            </a:r>
            <a:endParaRPr lang="en-US" sz="1100" dirty="0"/>
          </a:p>
        </p:txBody>
      </p:sp>
      <p:sp>
        <p:nvSpPr>
          <p:cNvPr id="3" name="Text 1"/>
          <p:cNvSpPr/>
          <p:nvPr/>
        </p:nvSpPr>
        <p:spPr>
          <a:xfrm>
            <a:off x="502920" y="585216"/>
            <a:ext cx="11185855" cy="566928"/>
          </a:xfrm>
          <a:prstGeom prst="rect">
            <a:avLst/>
          </a:prstGeom>
          <a:noFill/>
          <a:ln/>
        </p:spPr>
        <p:txBody>
          <a:bodyPr wrap="square" lIns="0" tIns="0" rIns="0" bIns="0" rtlCol="0" anchor="ctr"/>
          <a:lstStyle/>
          <a:p>
            <a:pPr indent="0" marL="0">
              <a:buNone/>
            </a:pPr>
            <a:r>
              <a:rPr lang="en-US" sz="3200" b="1" dirty="0">
                <a:solidFill>
                  <a:srgbClr val="16233F"/>
                </a:solidFill>
                <a:latin typeface="Cambria" pitchFamily="34" charset="0"/>
                <a:ea typeface="Cambria" pitchFamily="34" charset="-122"/>
                <a:cs typeface="Cambria" pitchFamily="34" charset="-120"/>
              </a:rPr>
              <a:t>Implementation Plan</a:t>
            </a:r>
            <a:endParaRPr lang="en-US" sz="3200" dirty="0"/>
          </a:p>
        </p:txBody>
      </p:sp>
      <p:sp>
        <p:nvSpPr>
          <p:cNvPr id="4" name="Shape 2"/>
          <p:cNvSpPr/>
          <p:nvPr/>
        </p:nvSpPr>
        <p:spPr>
          <a:xfrm>
            <a:off x="502920" y="1335024"/>
            <a:ext cx="4389120" cy="4407408"/>
          </a:xfrm>
          <a:prstGeom prst="roundRect">
            <a:avLst>
              <a:gd name="adj" fmla="val 1667"/>
            </a:avLst>
          </a:prstGeom>
          <a:solidFill>
            <a:srgbClr val="F1F4F8"/>
          </a:solidFill>
          <a:ln w="9525">
            <a:solidFill>
              <a:srgbClr val="D8DFE8"/>
            </a:solidFill>
            <a:prstDash val="solid"/>
          </a:ln>
        </p:spPr>
      </p:sp>
      <p:sp>
        <p:nvSpPr>
          <p:cNvPr id="5" name="Shape 3"/>
          <p:cNvSpPr/>
          <p:nvPr/>
        </p:nvSpPr>
        <p:spPr>
          <a:xfrm>
            <a:off x="667512" y="1499616"/>
            <a:ext cx="4059936" cy="603504"/>
          </a:xfrm>
          <a:prstGeom prst="roundRect">
            <a:avLst>
              <a:gd name="adj" fmla="val 10606"/>
            </a:avLst>
          </a:prstGeom>
          <a:solidFill>
            <a:srgbClr val="0D1730"/>
          </a:solidFill>
          <a:ln/>
        </p:spPr>
      </p:sp>
      <p:sp>
        <p:nvSpPr>
          <p:cNvPr id="6" name="Text 4"/>
          <p:cNvSpPr/>
          <p:nvPr/>
        </p:nvSpPr>
        <p:spPr>
          <a:xfrm>
            <a:off x="832104" y="1563624"/>
            <a:ext cx="3730752" cy="25603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Phase 1</a:t>
            </a:r>
            <a:endParaRPr lang="en-US" sz="1500" dirty="0"/>
          </a:p>
        </p:txBody>
      </p:sp>
      <p:sp>
        <p:nvSpPr>
          <p:cNvPr id="7" name="Text 5"/>
          <p:cNvSpPr/>
          <p:nvPr/>
        </p:nvSpPr>
        <p:spPr>
          <a:xfrm>
            <a:off x="832104" y="1819656"/>
            <a:ext cx="3730752" cy="219456"/>
          </a:xfrm>
          <a:prstGeom prst="rect">
            <a:avLst/>
          </a:prstGeom>
          <a:noFill/>
          <a:ln/>
        </p:spPr>
        <p:txBody>
          <a:bodyPr wrap="square" lIns="0" tIns="0" rIns="0" bIns="0" rtlCol="0" anchor="ctr"/>
          <a:lstStyle/>
          <a:p>
            <a:pPr indent="0" marL="0">
              <a:buNone/>
            </a:pPr>
            <a:r>
              <a:rPr lang="en-US" sz="950" dirty="0">
                <a:solidFill>
                  <a:srgbClr val="02C39A"/>
                </a:solidFill>
                <a:latin typeface="Calibri" pitchFamily="34" charset="0"/>
                <a:ea typeface="Calibri" pitchFamily="34" charset="-122"/>
                <a:cs typeface="Calibri" pitchFamily="34" charset="-120"/>
              </a:rPr>
              <a:t>In flight — foundation</a:t>
            </a:r>
            <a:endParaRPr lang="en-US" sz="950" dirty="0"/>
          </a:p>
        </p:txBody>
      </p:sp>
      <p:sp>
        <p:nvSpPr>
          <p:cNvPr id="8" name="Shape 6"/>
          <p:cNvSpPr/>
          <p:nvPr/>
        </p:nvSpPr>
        <p:spPr>
          <a:xfrm>
            <a:off x="667512" y="2267712"/>
            <a:ext cx="4059936" cy="452628"/>
          </a:xfrm>
          <a:prstGeom prst="roundRect">
            <a:avLst>
              <a:gd name="adj" fmla="val 12121"/>
            </a:avLst>
          </a:prstGeom>
          <a:solidFill>
            <a:srgbClr val="FFFFFF"/>
          </a:solidFill>
          <a:ln w="9525">
            <a:solidFill>
              <a:srgbClr val="D8DFE8"/>
            </a:solidFill>
            <a:prstDash val="solid"/>
          </a:ln>
        </p:spPr>
      </p:sp>
      <p:sp>
        <p:nvSpPr>
          <p:cNvPr id="9" name="Text 7"/>
          <p:cNvSpPr/>
          <p:nvPr/>
        </p:nvSpPr>
        <p:spPr>
          <a:xfrm>
            <a:off x="795528" y="2295144"/>
            <a:ext cx="2944368" cy="397764"/>
          </a:xfrm>
          <a:prstGeom prst="rect">
            <a:avLst/>
          </a:prstGeom>
          <a:noFill/>
          <a:ln/>
        </p:spPr>
        <p:txBody>
          <a:bodyPr wrap="square" lIns="0" tIns="0" rIns="0" bIns="0" rtlCol="0" anchor="ctr"/>
          <a:lstStyle/>
          <a:p>
            <a:pPr indent="0" marL="0">
              <a:lnSpc>
                <a:spcPts val="1200"/>
              </a:lnSpc>
              <a:buNone/>
            </a:pPr>
            <a:r>
              <a:rPr lang="en-US" sz="950" dirty="0">
                <a:solidFill>
                  <a:srgbClr val="16233F"/>
                </a:solidFill>
                <a:latin typeface="Calibri" pitchFamily="34" charset="0"/>
                <a:ea typeface="Calibri" pitchFamily="34" charset="-122"/>
                <a:cs typeface="Calibri" pitchFamily="34" charset="-120"/>
              </a:rPr>
              <a:t>Requirement Intake, Analysis, Traceability, Review &amp; Approval</a:t>
            </a:r>
            <a:endParaRPr lang="en-US" sz="950" dirty="0"/>
          </a:p>
        </p:txBody>
      </p:sp>
      <p:sp>
        <p:nvSpPr>
          <p:cNvPr id="10" name="Shape 8"/>
          <p:cNvSpPr/>
          <p:nvPr/>
        </p:nvSpPr>
        <p:spPr>
          <a:xfrm>
            <a:off x="3721608" y="2375154"/>
            <a:ext cx="786384" cy="237744"/>
          </a:xfrm>
          <a:prstGeom prst="roundRect">
            <a:avLst>
              <a:gd name="adj" fmla="val 50000"/>
            </a:avLst>
          </a:prstGeom>
          <a:solidFill>
            <a:srgbClr val="D8F5EC"/>
          </a:solidFill>
          <a:ln/>
        </p:spPr>
      </p:sp>
      <p:sp>
        <p:nvSpPr>
          <p:cNvPr id="11" name="Text 9"/>
          <p:cNvSpPr/>
          <p:nvPr/>
        </p:nvSpPr>
        <p:spPr>
          <a:xfrm>
            <a:off x="3721608" y="2375154"/>
            <a:ext cx="786384" cy="237744"/>
          </a:xfrm>
          <a:prstGeom prst="rect">
            <a:avLst/>
          </a:prstGeom>
          <a:noFill/>
          <a:ln/>
        </p:spPr>
        <p:txBody>
          <a:bodyPr wrap="square" lIns="0" tIns="0" rIns="0" bIns="0" rtlCol="0" anchor="ctr"/>
          <a:lstStyle/>
          <a:p>
            <a:pPr algn="ctr" indent="0" marL="0">
              <a:buNone/>
            </a:pPr>
            <a:r>
              <a:rPr lang="en-US" sz="850" b="1" dirty="0">
                <a:solidFill>
                  <a:srgbClr val="0A6B52"/>
                </a:solidFill>
                <a:latin typeface="Calibri" pitchFamily="34" charset="0"/>
                <a:ea typeface="Calibri" pitchFamily="34" charset="-122"/>
                <a:cs typeface="Calibri" pitchFamily="34" charset="-120"/>
              </a:rPr>
              <a:t>Completed</a:t>
            </a:r>
            <a:endParaRPr lang="en-US" sz="850" dirty="0"/>
          </a:p>
        </p:txBody>
      </p:sp>
      <p:sp>
        <p:nvSpPr>
          <p:cNvPr id="12" name="Shape 10"/>
          <p:cNvSpPr/>
          <p:nvPr/>
        </p:nvSpPr>
        <p:spPr>
          <a:xfrm>
            <a:off x="667512" y="2761488"/>
            <a:ext cx="4059936" cy="452628"/>
          </a:xfrm>
          <a:prstGeom prst="roundRect">
            <a:avLst>
              <a:gd name="adj" fmla="val 12121"/>
            </a:avLst>
          </a:prstGeom>
          <a:solidFill>
            <a:srgbClr val="FFFFFF"/>
          </a:solidFill>
          <a:ln w="9525">
            <a:solidFill>
              <a:srgbClr val="D8DFE8"/>
            </a:solidFill>
            <a:prstDash val="solid"/>
          </a:ln>
        </p:spPr>
      </p:sp>
      <p:sp>
        <p:nvSpPr>
          <p:cNvPr id="13" name="Text 11"/>
          <p:cNvSpPr/>
          <p:nvPr/>
        </p:nvSpPr>
        <p:spPr>
          <a:xfrm>
            <a:off x="795528" y="2788920"/>
            <a:ext cx="2944368" cy="397764"/>
          </a:xfrm>
          <a:prstGeom prst="rect">
            <a:avLst/>
          </a:prstGeom>
          <a:noFill/>
          <a:ln/>
        </p:spPr>
        <p:txBody>
          <a:bodyPr wrap="square" lIns="0" tIns="0" rIns="0" bIns="0" rtlCol="0" anchor="ctr"/>
          <a:lstStyle/>
          <a:p>
            <a:pPr indent="0" marL="0">
              <a:lnSpc>
                <a:spcPts val="1200"/>
              </a:lnSpc>
              <a:buNone/>
            </a:pPr>
            <a:r>
              <a:rPr lang="en-US" sz="950" dirty="0">
                <a:solidFill>
                  <a:srgbClr val="16233F"/>
                </a:solidFill>
                <a:latin typeface="Calibri" pitchFamily="34" charset="0"/>
                <a:ea typeface="Calibri" pitchFamily="34" charset="-122"/>
                <a:cs typeface="Calibri" pitchFamily="34" charset="-120"/>
              </a:rPr>
              <a:t>Test Plan &amp; Test Scenario Generation</a:t>
            </a:r>
            <a:endParaRPr lang="en-US" sz="950" dirty="0"/>
          </a:p>
        </p:txBody>
      </p:sp>
      <p:sp>
        <p:nvSpPr>
          <p:cNvPr id="14" name="Shape 12"/>
          <p:cNvSpPr/>
          <p:nvPr/>
        </p:nvSpPr>
        <p:spPr>
          <a:xfrm>
            <a:off x="3721608" y="2868930"/>
            <a:ext cx="786384" cy="237744"/>
          </a:xfrm>
          <a:prstGeom prst="roundRect">
            <a:avLst>
              <a:gd name="adj" fmla="val 50000"/>
            </a:avLst>
          </a:prstGeom>
          <a:solidFill>
            <a:srgbClr val="D8F5EC"/>
          </a:solidFill>
          <a:ln/>
        </p:spPr>
      </p:sp>
      <p:sp>
        <p:nvSpPr>
          <p:cNvPr id="15" name="Text 13"/>
          <p:cNvSpPr/>
          <p:nvPr/>
        </p:nvSpPr>
        <p:spPr>
          <a:xfrm>
            <a:off x="3721608" y="2868930"/>
            <a:ext cx="786384" cy="237744"/>
          </a:xfrm>
          <a:prstGeom prst="rect">
            <a:avLst/>
          </a:prstGeom>
          <a:noFill/>
          <a:ln/>
        </p:spPr>
        <p:txBody>
          <a:bodyPr wrap="square" lIns="0" tIns="0" rIns="0" bIns="0" rtlCol="0" anchor="ctr"/>
          <a:lstStyle/>
          <a:p>
            <a:pPr algn="ctr" indent="0" marL="0">
              <a:buNone/>
            </a:pPr>
            <a:r>
              <a:rPr lang="en-US" sz="850" b="1" dirty="0">
                <a:solidFill>
                  <a:srgbClr val="0A6B52"/>
                </a:solidFill>
                <a:latin typeface="Calibri" pitchFamily="34" charset="0"/>
                <a:ea typeface="Calibri" pitchFamily="34" charset="-122"/>
                <a:cs typeface="Calibri" pitchFamily="34" charset="-120"/>
              </a:rPr>
              <a:t>Completed</a:t>
            </a:r>
            <a:endParaRPr lang="en-US" sz="850" dirty="0"/>
          </a:p>
        </p:txBody>
      </p:sp>
      <p:sp>
        <p:nvSpPr>
          <p:cNvPr id="16" name="Shape 14"/>
          <p:cNvSpPr/>
          <p:nvPr/>
        </p:nvSpPr>
        <p:spPr>
          <a:xfrm>
            <a:off x="667512" y="3255264"/>
            <a:ext cx="4059936" cy="452628"/>
          </a:xfrm>
          <a:prstGeom prst="roundRect">
            <a:avLst>
              <a:gd name="adj" fmla="val 12121"/>
            </a:avLst>
          </a:prstGeom>
          <a:solidFill>
            <a:srgbClr val="FFFFFF"/>
          </a:solidFill>
          <a:ln w="9525">
            <a:solidFill>
              <a:srgbClr val="D8DFE8"/>
            </a:solidFill>
            <a:prstDash val="solid"/>
          </a:ln>
        </p:spPr>
      </p:sp>
      <p:sp>
        <p:nvSpPr>
          <p:cNvPr id="17" name="Text 15"/>
          <p:cNvSpPr/>
          <p:nvPr/>
        </p:nvSpPr>
        <p:spPr>
          <a:xfrm>
            <a:off x="795528" y="3282696"/>
            <a:ext cx="2944368" cy="397764"/>
          </a:xfrm>
          <a:prstGeom prst="rect">
            <a:avLst/>
          </a:prstGeom>
          <a:noFill/>
          <a:ln/>
        </p:spPr>
        <p:txBody>
          <a:bodyPr wrap="square" lIns="0" tIns="0" rIns="0" bIns="0" rtlCol="0" anchor="ctr"/>
          <a:lstStyle/>
          <a:p>
            <a:pPr indent="0" marL="0">
              <a:lnSpc>
                <a:spcPts val="1200"/>
              </a:lnSpc>
              <a:buNone/>
            </a:pPr>
            <a:r>
              <a:rPr lang="en-US" sz="950" dirty="0">
                <a:solidFill>
                  <a:srgbClr val="16233F"/>
                </a:solidFill>
                <a:latin typeface="Calibri" pitchFamily="34" charset="0"/>
                <a:ea typeface="Calibri" pitchFamily="34" charset="-122"/>
                <a:cs typeface="Calibri" pitchFamily="34" charset="-120"/>
              </a:rPr>
              <a:t>Test Case Generation, Editing and Approval</a:t>
            </a:r>
            <a:endParaRPr lang="en-US" sz="950" dirty="0"/>
          </a:p>
        </p:txBody>
      </p:sp>
      <p:sp>
        <p:nvSpPr>
          <p:cNvPr id="18" name="Shape 16"/>
          <p:cNvSpPr/>
          <p:nvPr/>
        </p:nvSpPr>
        <p:spPr>
          <a:xfrm>
            <a:off x="3721608" y="3362706"/>
            <a:ext cx="786384" cy="237744"/>
          </a:xfrm>
          <a:prstGeom prst="roundRect">
            <a:avLst>
              <a:gd name="adj" fmla="val 50000"/>
            </a:avLst>
          </a:prstGeom>
          <a:solidFill>
            <a:srgbClr val="D8F5EC"/>
          </a:solidFill>
          <a:ln/>
        </p:spPr>
      </p:sp>
      <p:sp>
        <p:nvSpPr>
          <p:cNvPr id="19" name="Text 17"/>
          <p:cNvSpPr/>
          <p:nvPr/>
        </p:nvSpPr>
        <p:spPr>
          <a:xfrm>
            <a:off x="3721608" y="3362706"/>
            <a:ext cx="786384" cy="237744"/>
          </a:xfrm>
          <a:prstGeom prst="rect">
            <a:avLst/>
          </a:prstGeom>
          <a:noFill/>
          <a:ln/>
        </p:spPr>
        <p:txBody>
          <a:bodyPr wrap="square" lIns="0" tIns="0" rIns="0" bIns="0" rtlCol="0" anchor="ctr"/>
          <a:lstStyle/>
          <a:p>
            <a:pPr algn="ctr" indent="0" marL="0">
              <a:buNone/>
            </a:pPr>
            <a:r>
              <a:rPr lang="en-US" sz="850" b="1" dirty="0">
                <a:solidFill>
                  <a:srgbClr val="0A6B52"/>
                </a:solidFill>
                <a:latin typeface="Calibri" pitchFamily="34" charset="0"/>
                <a:ea typeface="Calibri" pitchFamily="34" charset="-122"/>
                <a:cs typeface="Calibri" pitchFamily="34" charset="-120"/>
              </a:rPr>
              <a:t>Completed</a:t>
            </a:r>
            <a:endParaRPr lang="en-US" sz="850" dirty="0"/>
          </a:p>
        </p:txBody>
      </p:sp>
      <p:sp>
        <p:nvSpPr>
          <p:cNvPr id="20" name="Shape 18"/>
          <p:cNvSpPr/>
          <p:nvPr/>
        </p:nvSpPr>
        <p:spPr>
          <a:xfrm>
            <a:off x="667512" y="3749040"/>
            <a:ext cx="4059936" cy="452628"/>
          </a:xfrm>
          <a:prstGeom prst="roundRect">
            <a:avLst>
              <a:gd name="adj" fmla="val 12121"/>
            </a:avLst>
          </a:prstGeom>
          <a:solidFill>
            <a:srgbClr val="FFFFFF"/>
          </a:solidFill>
          <a:ln w="9525">
            <a:solidFill>
              <a:srgbClr val="D8DFE8"/>
            </a:solidFill>
            <a:prstDash val="solid"/>
          </a:ln>
        </p:spPr>
      </p:sp>
      <p:sp>
        <p:nvSpPr>
          <p:cNvPr id="21" name="Text 19"/>
          <p:cNvSpPr/>
          <p:nvPr/>
        </p:nvSpPr>
        <p:spPr>
          <a:xfrm>
            <a:off x="795528" y="3776472"/>
            <a:ext cx="2944368" cy="397764"/>
          </a:xfrm>
          <a:prstGeom prst="rect">
            <a:avLst/>
          </a:prstGeom>
          <a:noFill/>
          <a:ln/>
        </p:spPr>
        <p:txBody>
          <a:bodyPr wrap="square" lIns="0" tIns="0" rIns="0" bIns="0" rtlCol="0" anchor="ctr"/>
          <a:lstStyle/>
          <a:p>
            <a:pPr indent="0" marL="0">
              <a:lnSpc>
                <a:spcPts val="1200"/>
              </a:lnSpc>
              <a:buNone/>
            </a:pPr>
            <a:r>
              <a:rPr lang="en-US" sz="950" dirty="0">
                <a:solidFill>
                  <a:srgbClr val="16233F"/>
                </a:solidFill>
                <a:latin typeface="Calibri" pitchFamily="34" charset="0"/>
                <a:ea typeface="Calibri" pitchFamily="34" charset="-122"/>
                <a:cs typeface="Calibri" pitchFamily="34" charset="-120"/>
              </a:rPr>
              <a:t>Auto Classification of Automation &amp; Manual Test Cases</a:t>
            </a:r>
            <a:endParaRPr lang="en-US" sz="950" dirty="0"/>
          </a:p>
        </p:txBody>
      </p:sp>
      <p:sp>
        <p:nvSpPr>
          <p:cNvPr id="22" name="Shape 20"/>
          <p:cNvSpPr/>
          <p:nvPr/>
        </p:nvSpPr>
        <p:spPr>
          <a:xfrm>
            <a:off x="3721608" y="3856482"/>
            <a:ext cx="786384" cy="237744"/>
          </a:xfrm>
          <a:prstGeom prst="roundRect">
            <a:avLst>
              <a:gd name="adj" fmla="val 50000"/>
            </a:avLst>
          </a:prstGeom>
          <a:solidFill>
            <a:srgbClr val="D8F5EC"/>
          </a:solidFill>
          <a:ln/>
        </p:spPr>
      </p:sp>
      <p:sp>
        <p:nvSpPr>
          <p:cNvPr id="23" name="Text 21"/>
          <p:cNvSpPr/>
          <p:nvPr/>
        </p:nvSpPr>
        <p:spPr>
          <a:xfrm>
            <a:off x="3721608" y="3856482"/>
            <a:ext cx="786384" cy="237744"/>
          </a:xfrm>
          <a:prstGeom prst="rect">
            <a:avLst/>
          </a:prstGeom>
          <a:noFill/>
          <a:ln/>
        </p:spPr>
        <p:txBody>
          <a:bodyPr wrap="square" lIns="0" tIns="0" rIns="0" bIns="0" rtlCol="0" anchor="ctr"/>
          <a:lstStyle/>
          <a:p>
            <a:pPr algn="ctr" indent="0" marL="0">
              <a:buNone/>
            </a:pPr>
            <a:r>
              <a:rPr lang="en-US" sz="850" b="1" dirty="0">
                <a:solidFill>
                  <a:srgbClr val="0A6B52"/>
                </a:solidFill>
                <a:latin typeface="Calibri" pitchFamily="34" charset="0"/>
                <a:ea typeface="Calibri" pitchFamily="34" charset="-122"/>
                <a:cs typeface="Calibri" pitchFamily="34" charset="-120"/>
              </a:rPr>
              <a:t>Completed</a:t>
            </a:r>
            <a:endParaRPr lang="en-US" sz="850" dirty="0"/>
          </a:p>
        </p:txBody>
      </p:sp>
      <p:sp>
        <p:nvSpPr>
          <p:cNvPr id="24" name="Shape 22"/>
          <p:cNvSpPr/>
          <p:nvPr/>
        </p:nvSpPr>
        <p:spPr>
          <a:xfrm>
            <a:off x="667512" y="4242816"/>
            <a:ext cx="4059936" cy="452628"/>
          </a:xfrm>
          <a:prstGeom prst="roundRect">
            <a:avLst>
              <a:gd name="adj" fmla="val 12121"/>
            </a:avLst>
          </a:prstGeom>
          <a:solidFill>
            <a:srgbClr val="FFFFFF"/>
          </a:solidFill>
          <a:ln w="9525">
            <a:solidFill>
              <a:srgbClr val="D8DFE8"/>
            </a:solidFill>
            <a:prstDash val="solid"/>
          </a:ln>
        </p:spPr>
      </p:sp>
      <p:sp>
        <p:nvSpPr>
          <p:cNvPr id="25" name="Text 23"/>
          <p:cNvSpPr/>
          <p:nvPr/>
        </p:nvSpPr>
        <p:spPr>
          <a:xfrm>
            <a:off x="795528" y="4270248"/>
            <a:ext cx="2944368" cy="397764"/>
          </a:xfrm>
          <a:prstGeom prst="rect">
            <a:avLst/>
          </a:prstGeom>
          <a:noFill/>
          <a:ln/>
        </p:spPr>
        <p:txBody>
          <a:bodyPr wrap="square" lIns="0" tIns="0" rIns="0" bIns="0" rtlCol="0" anchor="ctr"/>
          <a:lstStyle/>
          <a:p>
            <a:pPr indent="0" marL="0">
              <a:lnSpc>
                <a:spcPts val="1200"/>
              </a:lnSpc>
              <a:buNone/>
            </a:pPr>
            <a:r>
              <a:rPr lang="en-US" sz="950" dirty="0">
                <a:solidFill>
                  <a:srgbClr val="16233F"/>
                </a:solidFill>
                <a:latin typeface="Calibri" pitchFamily="34" charset="0"/>
                <a:ea typeface="Calibri" pitchFamily="34" charset="-122"/>
                <a:cs typeface="Calibri" pitchFamily="34" charset="-120"/>
              </a:rPr>
              <a:t>Automation Script Generation &amp; Script Maintenance</a:t>
            </a:r>
            <a:endParaRPr lang="en-US" sz="950" dirty="0"/>
          </a:p>
        </p:txBody>
      </p:sp>
      <p:sp>
        <p:nvSpPr>
          <p:cNvPr id="26" name="Shape 24"/>
          <p:cNvSpPr/>
          <p:nvPr/>
        </p:nvSpPr>
        <p:spPr>
          <a:xfrm>
            <a:off x="3721608" y="4350258"/>
            <a:ext cx="786384" cy="237744"/>
          </a:xfrm>
          <a:prstGeom prst="roundRect">
            <a:avLst>
              <a:gd name="adj" fmla="val 50000"/>
            </a:avLst>
          </a:prstGeom>
          <a:solidFill>
            <a:srgbClr val="FAEBD1"/>
          </a:solidFill>
          <a:ln/>
        </p:spPr>
      </p:sp>
      <p:sp>
        <p:nvSpPr>
          <p:cNvPr id="27" name="Text 25"/>
          <p:cNvSpPr/>
          <p:nvPr/>
        </p:nvSpPr>
        <p:spPr>
          <a:xfrm>
            <a:off x="3721608" y="4350258"/>
            <a:ext cx="786384" cy="237744"/>
          </a:xfrm>
          <a:prstGeom prst="rect">
            <a:avLst/>
          </a:prstGeom>
          <a:noFill/>
          <a:ln/>
        </p:spPr>
        <p:txBody>
          <a:bodyPr wrap="square" lIns="0" tIns="0" rIns="0" bIns="0" rtlCol="0" anchor="ctr"/>
          <a:lstStyle/>
          <a:p>
            <a:pPr algn="ctr" indent="0" marL="0">
              <a:buNone/>
            </a:pPr>
            <a:r>
              <a:rPr lang="en-US" sz="850" b="1" dirty="0">
                <a:solidFill>
                  <a:srgbClr val="8A5A0B"/>
                </a:solidFill>
                <a:latin typeface="Calibri" pitchFamily="34" charset="0"/>
                <a:ea typeface="Calibri" pitchFamily="34" charset="-122"/>
                <a:cs typeface="Calibri" pitchFamily="34" charset="-120"/>
              </a:rPr>
              <a:t>In Progress</a:t>
            </a:r>
            <a:endParaRPr lang="en-US" sz="850" dirty="0"/>
          </a:p>
        </p:txBody>
      </p:sp>
      <p:sp>
        <p:nvSpPr>
          <p:cNvPr id="28" name="Shape 26"/>
          <p:cNvSpPr/>
          <p:nvPr/>
        </p:nvSpPr>
        <p:spPr>
          <a:xfrm>
            <a:off x="667512" y="4736592"/>
            <a:ext cx="4059936" cy="452628"/>
          </a:xfrm>
          <a:prstGeom prst="roundRect">
            <a:avLst>
              <a:gd name="adj" fmla="val 12121"/>
            </a:avLst>
          </a:prstGeom>
          <a:solidFill>
            <a:srgbClr val="FFFFFF"/>
          </a:solidFill>
          <a:ln w="9525">
            <a:solidFill>
              <a:srgbClr val="D8DFE8"/>
            </a:solidFill>
            <a:prstDash val="solid"/>
          </a:ln>
        </p:spPr>
      </p:sp>
      <p:sp>
        <p:nvSpPr>
          <p:cNvPr id="29" name="Text 27"/>
          <p:cNvSpPr/>
          <p:nvPr/>
        </p:nvSpPr>
        <p:spPr>
          <a:xfrm>
            <a:off x="795528" y="4764024"/>
            <a:ext cx="2944368" cy="397764"/>
          </a:xfrm>
          <a:prstGeom prst="rect">
            <a:avLst/>
          </a:prstGeom>
          <a:noFill/>
          <a:ln/>
        </p:spPr>
        <p:txBody>
          <a:bodyPr wrap="square" lIns="0" tIns="0" rIns="0" bIns="0" rtlCol="0" anchor="ctr"/>
          <a:lstStyle/>
          <a:p>
            <a:pPr indent="0" marL="0">
              <a:lnSpc>
                <a:spcPts val="1200"/>
              </a:lnSpc>
              <a:buNone/>
            </a:pPr>
            <a:r>
              <a:rPr lang="en-US" sz="950" dirty="0">
                <a:solidFill>
                  <a:srgbClr val="16233F"/>
                </a:solidFill>
                <a:latin typeface="Calibri" pitchFamily="34" charset="0"/>
                <a:ea typeface="Calibri" pitchFamily="34" charset="-122"/>
                <a:cs typeface="Calibri" pitchFamily="34" charset="-120"/>
              </a:rPr>
              <a:t>Regression Automation Execution &amp; Coverage Detection</a:t>
            </a:r>
            <a:endParaRPr lang="en-US" sz="950" dirty="0"/>
          </a:p>
        </p:txBody>
      </p:sp>
      <p:sp>
        <p:nvSpPr>
          <p:cNvPr id="30" name="Shape 28"/>
          <p:cNvSpPr/>
          <p:nvPr/>
        </p:nvSpPr>
        <p:spPr>
          <a:xfrm>
            <a:off x="3721608" y="4844034"/>
            <a:ext cx="786384" cy="237744"/>
          </a:xfrm>
          <a:prstGeom prst="roundRect">
            <a:avLst>
              <a:gd name="adj" fmla="val 50000"/>
            </a:avLst>
          </a:prstGeom>
          <a:solidFill>
            <a:srgbClr val="E3E9F1"/>
          </a:solidFill>
          <a:ln/>
        </p:spPr>
      </p:sp>
      <p:sp>
        <p:nvSpPr>
          <p:cNvPr id="31" name="Text 29"/>
          <p:cNvSpPr/>
          <p:nvPr/>
        </p:nvSpPr>
        <p:spPr>
          <a:xfrm>
            <a:off x="3721608" y="4844034"/>
            <a:ext cx="786384" cy="237744"/>
          </a:xfrm>
          <a:prstGeom prst="rect">
            <a:avLst/>
          </a:prstGeom>
          <a:noFill/>
          <a:ln/>
        </p:spPr>
        <p:txBody>
          <a:bodyPr wrap="square" lIns="0" tIns="0" rIns="0" bIns="0" rtlCol="0" anchor="ctr"/>
          <a:lstStyle/>
          <a:p>
            <a:pPr algn="ctr" indent="0" marL="0">
              <a:buNone/>
            </a:pPr>
            <a:r>
              <a:rPr lang="en-US" sz="850" b="1" dirty="0">
                <a:solidFill>
                  <a:srgbClr val="44566E"/>
                </a:solidFill>
                <a:latin typeface="Calibri" pitchFamily="34" charset="0"/>
                <a:ea typeface="Calibri" pitchFamily="34" charset="-122"/>
                <a:cs typeface="Calibri" pitchFamily="34" charset="-120"/>
              </a:rPr>
              <a:t>Planned</a:t>
            </a:r>
            <a:endParaRPr lang="en-US" sz="850" dirty="0"/>
          </a:p>
        </p:txBody>
      </p:sp>
      <p:sp>
        <p:nvSpPr>
          <p:cNvPr id="32" name="Shape 30"/>
          <p:cNvSpPr/>
          <p:nvPr/>
        </p:nvSpPr>
        <p:spPr>
          <a:xfrm>
            <a:off x="667512" y="5230368"/>
            <a:ext cx="4059936" cy="452628"/>
          </a:xfrm>
          <a:prstGeom prst="roundRect">
            <a:avLst>
              <a:gd name="adj" fmla="val 12121"/>
            </a:avLst>
          </a:prstGeom>
          <a:solidFill>
            <a:srgbClr val="FFFFFF"/>
          </a:solidFill>
          <a:ln w="9525">
            <a:solidFill>
              <a:srgbClr val="D8DFE8"/>
            </a:solidFill>
            <a:prstDash val="solid"/>
          </a:ln>
        </p:spPr>
      </p:sp>
      <p:sp>
        <p:nvSpPr>
          <p:cNvPr id="33" name="Text 31"/>
          <p:cNvSpPr/>
          <p:nvPr/>
        </p:nvSpPr>
        <p:spPr>
          <a:xfrm>
            <a:off x="795528" y="5257800"/>
            <a:ext cx="2944368" cy="397764"/>
          </a:xfrm>
          <a:prstGeom prst="rect">
            <a:avLst/>
          </a:prstGeom>
          <a:noFill/>
          <a:ln/>
        </p:spPr>
        <p:txBody>
          <a:bodyPr wrap="square" lIns="0" tIns="0" rIns="0" bIns="0" rtlCol="0" anchor="ctr"/>
          <a:lstStyle/>
          <a:p>
            <a:pPr indent="0" marL="0">
              <a:lnSpc>
                <a:spcPts val="1200"/>
              </a:lnSpc>
              <a:buNone/>
            </a:pPr>
            <a:r>
              <a:rPr lang="en-US" sz="950" dirty="0">
                <a:solidFill>
                  <a:srgbClr val="16233F"/>
                </a:solidFill>
                <a:latin typeface="Calibri" pitchFamily="34" charset="0"/>
                <a:ea typeface="Calibri" pitchFamily="34" charset="-122"/>
                <a:cs typeface="Calibri" pitchFamily="34" charset="-120"/>
              </a:rPr>
              <a:t>RAG &amp; Knowledge Base</a:t>
            </a:r>
            <a:endParaRPr lang="en-US" sz="950" dirty="0"/>
          </a:p>
        </p:txBody>
      </p:sp>
      <p:sp>
        <p:nvSpPr>
          <p:cNvPr id="34" name="Shape 32"/>
          <p:cNvSpPr/>
          <p:nvPr/>
        </p:nvSpPr>
        <p:spPr>
          <a:xfrm>
            <a:off x="3721608" y="5337810"/>
            <a:ext cx="786384" cy="237744"/>
          </a:xfrm>
          <a:prstGeom prst="roundRect">
            <a:avLst>
              <a:gd name="adj" fmla="val 50000"/>
            </a:avLst>
          </a:prstGeom>
          <a:solidFill>
            <a:srgbClr val="D9EBED"/>
          </a:solidFill>
          <a:ln/>
        </p:spPr>
      </p:sp>
      <p:sp>
        <p:nvSpPr>
          <p:cNvPr id="35" name="Text 33"/>
          <p:cNvSpPr/>
          <p:nvPr/>
        </p:nvSpPr>
        <p:spPr>
          <a:xfrm>
            <a:off x="3721608" y="5337810"/>
            <a:ext cx="786384" cy="237744"/>
          </a:xfrm>
          <a:prstGeom prst="rect">
            <a:avLst/>
          </a:prstGeom>
          <a:noFill/>
          <a:ln/>
        </p:spPr>
        <p:txBody>
          <a:bodyPr wrap="square" lIns="0" tIns="0" rIns="0" bIns="0" rtlCol="0" anchor="ctr"/>
          <a:lstStyle/>
          <a:p>
            <a:pPr algn="ctr" indent="0" marL="0">
              <a:buNone/>
            </a:pPr>
            <a:r>
              <a:rPr lang="en-US" sz="850" b="1" dirty="0">
                <a:solidFill>
                  <a:srgbClr val="0B646C"/>
                </a:solidFill>
                <a:latin typeface="Calibri" pitchFamily="34" charset="0"/>
                <a:ea typeface="Calibri" pitchFamily="34" charset="-122"/>
                <a:cs typeface="Calibri" pitchFamily="34" charset="-120"/>
              </a:rPr>
              <a:t>Partial</a:t>
            </a:r>
            <a:endParaRPr lang="en-US" sz="850" dirty="0"/>
          </a:p>
        </p:txBody>
      </p:sp>
      <p:sp>
        <p:nvSpPr>
          <p:cNvPr id="36" name="Shape 34"/>
          <p:cNvSpPr/>
          <p:nvPr/>
        </p:nvSpPr>
        <p:spPr>
          <a:xfrm>
            <a:off x="5257800" y="1335024"/>
            <a:ext cx="2971800" cy="4407408"/>
          </a:xfrm>
          <a:prstGeom prst="roundRect">
            <a:avLst>
              <a:gd name="adj" fmla="val 2462"/>
            </a:avLst>
          </a:prstGeom>
          <a:solidFill>
            <a:srgbClr val="F1F4F8"/>
          </a:solidFill>
          <a:ln w="9525">
            <a:solidFill>
              <a:srgbClr val="D8DFE8"/>
            </a:solidFill>
            <a:prstDash val="solid"/>
          </a:ln>
        </p:spPr>
      </p:sp>
      <p:sp>
        <p:nvSpPr>
          <p:cNvPr id="37" name="Shape 35"/>
          <p:cNvSpPr/>
          <p:nvPr/>
        </p:nvSpPr>
        <p:spPr>
          <a:xfrm>
            <a:off x="5422392" y="1499616"/>
            <a:ext cx="2642616" cy="603504"/>
          </a:xfrm>
          <a:prstGeom prst="roundRect">
            <a:avLst>
              <a:gd name="adj" fmla="val 10606"/>
            </a:avLst>
          </a:prstGeom>
          <a:solidFill>
            <a:srgbClr val="0D1730"/>
          </a:solidFill>
          <a:ln/>
        </p:spPr>
      </p:sp>
      <p:sp>
        <p:nvSpPr>
          <p:cNvPr id="38" name="Text 36"/>
          <p:cNvSpPr/>
          <p:nvPr/>
        </p:nvSpPr>
        <p:spPr>
          <a:xfrm>
            <a:off x="5586984" y="1563624"/>
            <a:ext cx="2313432" cy="25603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Phase 2</a:t>
            </a:r>
            <a:endParaRPr lang="en-US" sz="1500" dirty="0"/>
          </a:p>
        </p:txBody>
      </p:sp>
      <p:sp>
        <p:nvSpPr>
          <p:cNvPr id="39" name="Text 37"/>
          <p:cNvSpPr/>
          <p:nvPr/>
        </p:nvSpPr>
        <p:spPr>
          <a:xfrm>
            <a:off x="5586984" y="1819656"/>
            <a:ext cx="2313432" cy="219456"/>
          </a:xfrm>
          <a:prstGeom prst="rect">
            <a:avLst/>
          </a:prstGeom>
          <a:noFill/>
          <a:ln/>
        </p:spPr>
        <p:txBody>
          <a:bodyPr wrap="square" lIns="0" tIns="0" rIns="0" bIns="0" rtlCol="0" anchor="ctr"/>
          <a:lstStyle/>
          <a:p>
            <a:pPr indent="0" marL="0">
              <a:buNone/>
            </a:pPr>
            <a:r>
              <a:rPr lang="en-US" sz="950" dirty="0">
                <a:solidFill>
                  <a:srgbClr val="02C39A"/>
                </a:solidFill>
                <a:latin typeface="Calibri" pitchFamily="34" charset="0"/>
                <a:ea typeface="Calibri" pitchFamily="34" charset="-122"/>
                <a:cs typeface="Calibri" pitchFamily="34" charset="-120"/>
              </a:rPr>
              <a:t>September 2026</a:t>
            </a:r>
            <a:endParaRPr lang="en-US" sz="950" dirty="0"/>
          </a:p>
        </p:txBody>
      </p:sp>
      <p:sp>
        <p:nvSpPr>
          <p:cNvPr id="40" name="Shape 38"/>
          <p:cNvSpPr/>
          <p:nvPr/>
        </p:nvSpPr>
        <p:spPr>
          <a:xfrm>
            <a:off x="5422392" y="2267712"/>
            <a:ext cx="2642616" cy="1572768"/>
          </a:xfrm>
          <a:prstGeom prst="roundRect">
            <a:avLst>
              <a:gd name="adj" fmla="val 3488"/>
            </a:avLst>
          </a:prstGeom>
          <a:solidFill>
            <a:srgbClr val="FFFFFF"/>
          </a:solidFill>
          <a:ln w="9525">
            <a:solidFill>
              <a:srgbClr val="D8DFE8"/>
            </a:solidFill>
            <a:prstDash val="solid"/>
          </a:ln>
        </p:spPr>
      </p:sp>
      <p:sp>
        <p:nvSpPr>
          <p:cNvPr id="41" name="Text 39"/>
          <p:cNvSpPr/>
          <p:nvPr/>
        </p:nvSpPr>
        <p:spPr>
          <a:xfrm>
            <a:off x="5568696" y="2468880"/>
            <a:ext cx="2350008" cy="713232"/>
          </a:xfrm>
          <a:prstGeom prst="rect">
            <a:avLst/>
          </a:prstGeom>
          <a:noFill/>
          <a:ln/>
        </p:spPr>
        <p:txBody>
          <a:bodyPr wrap="square" lIns="0" tIns="0" rIns="0" bIns="0" rtlCol="0" anchor="ctr"/>
          <a:lstStyle/>
          <a:p>
            <a:pPr indent="0" marL="0">
              <a:lnSpc>
                <a:spcPts val="1600"/>
              </a:lnSpc>
              <a:buNone/>
            </a:pPr>
            <a:r>
              <a:rPr lang="en-US" sz="1200" b="1" dirty="0">
                <a:solidFill>
                  <a:srgbClr val="16233F"/>
                </a:solidFill>
                <a:latin typeface="Calibri" pitchFamily="34" charset="0"/>
                <a:ea typeface="Calibri" pitchFamily="34" charset="-122"/>
                <a:cs typeface="Calibri" pitchFamily="34" charset="-120"/>
              </a:rPr>
              <a:t>Regression Automation Execution &amp; Coverage Detection</a:t>
            </a:r>
            <a:endParaRPr lang="en-US" sz="1200" dirty="0"/>
          </a:p>
        </p:txBody>
      </p:sp>
      <p:sp>
        <p:nvSpPr>
          <p:cNvPr id="42" name="Text 40"/>
          <p:cNvSpPr/>
          <p:nvPr/>
        </p:nvSpPr>
        <p:spPr>
          <a:xfrm>
            <a:off x="5568696" y="3273552"/>
            <a:ext cx="1472184" cy="256032"/>
          </a:xfrm>
          <a:prstGeom prst="rect">
            <a:avLst/>
          </a:prstGeom>
          <a:noFill/>
          <a:ln/>
        </p:spPr>
        <p:txBody>
          <a:bodyPr wrap="square" lIns="0" tIns="0" rIns="0" bIns="0" rtlCol="0" anchor="ctr"/>
          <a:lstStyle/>
          <a:p>
            <a:pPr indent="0" marL="0">
              <a:buNone/>
            </a:pPr>
            <a:r>
              <a:rPr lang="en-US" sz="1050" dirty="0">
                <a:solidFill>
                  <a:srgbClr val="0E7C86"/>
                </a:solidFill>
                <a:latin typeface="Calibri" pitchFamily="34" charset="0"/>
                <a:ea typeface="Calibri" pitchFamily="34" charset="-122"/>
                <a:cs typeface="Calibri" pitchFamily="34" charset="-120"/>
              </a:rPr>
              <a:t>1 – 15 September</a:t>
            </a:r>
            <a:endParaRPr lang="en-US" sz="1050" dirty="0"/>
          </a:p>
        </p:txBody>
      </p:sp>
      <p:sp>
        <p:nvSpPr>
          <p:cNvPr id="43" name="Shape 41"/>
          <p:cNvSpPr/>
          <p:nvPr/>
        </p:nvSpPr>
        <p:spPr>
          <a:xfrm>
            <a:off x="7059168" y="3282696"/>
            <a:ext cx="786384" cy="237744"/>
          </a:xfrm>
          <a:prstGeom prst="roundRect">
            <a:avLst>
              <a:gd name="adj" fmla="val 50000"/>
            </a:avLst>
          </a:prstGeom>
          <a:solidFill>
            <a:srgbClr val="E3E9F1"/>
          </a:solidFill>
          <a:ln/>
        </p:spPr>
      </p:sp>
      <p:sp>
        <p:nvSpPr>
          <p:cNvPr id="44" name="Text 42"/>
          <p:cNvSpPr/>
          <p:nvPr/>
        </p:nvSpPr>
        <p:spPr>
          <a:xfrm>
            <a:off x="7059168" y="3282696"/>
            <a:ext cx="786384" cy="237744"/>
          </a:xfrm>
          <a:prstGeom prst="rect">
            <a:avLst/>
          </a:prstGeom>
          <a:noFill/>
          <a:ln/>
        </p:spPr>
        <p:txBody>
          <a:bodyPr wrap="square" lIns="0" tIns="0" rIns="0" bIns="0" rtlCol="0" anchor="ctr"/>
          <a:lstStyle/>
          <a:p>
            <a:pPr algn="ctr" indent="0" marL="0">
              <a:buNone/>
            </a:pPr>
            <a:r>
              <a:rPr lang="en-US" sz="850" b="1" dirty="0">
                <a:solidFill>
                  <a:srgbClr val="44566E"/>
                </a:solidFill>
                <a:latin typeface="Calibri" pitchFamily="34" charset="0"/>
                <a:ea typeface="Calibri" pitchFamily="34" charset="-122"/>
                <a:cs typeface="Calibri" pitchFamily="34" charset="-120"/>
              </a:rPr>
              <a:t>Planned</a:t>
            </a:r>
            <a:endParaRPr lang="en-US" sz="850" dirty="0"/>
          </a:p>
        </p:txBody>
      </p:sp>
      <p:sp>
        <p:nvSpPr>
          <p:cNvPr id="45" name="Shape 43"/>
          <p:cNvSpPr/>
          <p:nvPr/>
        </p:nvSpPr>
        <p:spPr>
          <a:xfrm>
            <a:off x="5422392" y="4059936"/>
            <a:ext cx="2642616" cy="1572768"/>
          </a:xfrm>
          <a:prstGeom prst="roundRect">
            <a:avLst>
              <a:gd name="adj" fmla="val 3488"/>
            </a:avLst>
          </a:prstGeom>
          <a:solidFill>
            <a:srgbClr val="FFFFFF"/>
          </a:solidFill>
          <a:ln w="9525">
            <a:solidFill>
              <a:srgbClr val="D8DFE8"/>
            </a:solidFill>
            <a:prstDash val="solid"/>
          </a:ln>
        </p:spPr>
      </p:sp>
      <p:sp>
        <p:nvSpPr>
          <p:cNvPr id="46" name="Text 44"/>
          <p:cNvSpPr/>
          <p:nvPr/>
        </p:nvSpPr>
        <p:spPr>
          <a:xfrm>
            <a:off x="5568696" y="4261104"/>
            <a:ext cx="2350008" cy="713232"/>
          </a:xfrm>
          <a:prstGeom prst="rect">
            <a:avLst/>
          </a:prstGeom>
          <a:noFill/>
          <a:ln/>
        </p:spPr>
        <p:txBody>
          <a:bodyPr wrap="square" lIns="0" tIns="0" rIns="0" bIns="0" rtlCol="0" anchor="ctr"/>
          <a:lstStyle/>
          <a:p>
            <a:pPr indent="0" marL="0">
              <a:lnSpc>
                <a:spcPts val="1600"/>
              </a:lnSpc>
              <a:buNone/>
            </a:pPr>
            <a:r>
              <a:rPr lang="en-US" sz="1200" b="1" dirty="0">
                <a:solidFill>
                  <a:srgbClr val="16233F"/>
                </a:solidFill>
                <a:latin typeface="Calibri" pitchFamily="34" charset="0"/>
                <a:ea typeface="Calibri" pitchFamily="34" charset="-122"/>
                <a:cs typeface="Calibri" pitchFamily="34" charset="-120"/>
              </a:rPr>
              <a:t>Training Centre</a:t>
            </a:r>
            <a:endParaRPr lang="en-US" sz="1200" dirty="0"/>
          </a:p>
        </p:txBody>
      </p:sp>
      <p:sp>
        <p:nvSpPr>
          <p:cNvPr id="47" name="Text 45"/>
          <p:cNvSpPr/>
          <p:nvPr/>
        </p:nvSpPr>
        <p:spPr>
          <a:xfrm>
            <a:off x="5568696" y="5065776"/>
            <a:ext cx="1472184" cy="256032"/>
          </a:xfrm>
          <a:prstGeom prst="rect">
            <a:avLst/>
          </a:prstGeom>
          <a:noFill/>
          <a:ln/>
        </p:spPr>
        <p:txBody>
          <a:bodyPr wrap="square" lIns="0" tIns="0" rIns="0" bIns="0" rtlCol="0" anchor="ctr"/>
          <a:lstStyle/>
          <a:p>
            <a:pPr indent="0" marL="0">
              <a:buNone/>
            </a:pPr>
            <a:r>
              <a:rPr lang="en-US" sz="1050" dirty="0">
                <a:solidFill>
                  <a:srgbClr val="0E7C86"/>
                </a:solidFill>
                <a:latin typeface="Calibri" pitchFamily="34" charset="0"/>
                <a:ea typeface="Calibri" pitchFamily="34" charset="-122"/>
                <a:cs typeface="Calibri" pitchFamily="34" charset="-120"/>
              </a:rPr>
              <a:t>16 – 30 September</a:t>
            </a:r>
            <a:endParaRPr lang="en-US" sz="1050" dirty="0"/>
          </a:p>
        </p:txBody>
      </p:sp>
      <p:sp>
        <p:nvSpPr>
          <p:cNvPr id="48" name="Shape 46"/>
          <p:cNvSpPr/>
          <p:nvPr/>
        </p:nvSpPr>
        <p:spPr>
          <a:xfrm>
            <a:off x="7059168" y="5074920"/>
            <a:ext cx="786384" cy="237744"/>
          </a:xfrm>
          <a:prstGeom prst="roundRect">
            <a:avLst>
              <a:gd name="adj" fmla="val 50000"/>
            </a:avLst>
          </a:prstGeom>
          <a:solidFill>
            <a:srgbClr val="E3E9F1"/>
          </a:solidFill>
          <a:ln/>
        </p:spPr>
      </p:sp>
      <p:sp>
        <p:nvSpPr>
          <p:cNvPr id="49" name="Text 47"/>
          <p:cNvSpPr/>
          <p:nvPr/>
        </p:nvSpPr>
        <p:spPr>
          <a:xfrm>
            <a:off x="7059168" y="5074920"/>
            <a:ext cx="786384" cy="237744"/>
          </a:xfrm>
          <a:prstGeom prst="rect">
            <a:avLst/>
          </a:prstGeom>
          <a:noFill/>
          <a:ln/>
        </p:spPr>
        <p:txBody>
          <a:bodyPr wrap="square" lIns="0" tIns="0" rIns="0" bIns="0" rtlCol="0" anchor="ctr"/>
          <a:lstStyle/>
          <a:p>
            <a:pPr algn="ctr" indent="0" marL="0">
              <a:buNone/>
            </a:pPr>
            <a:r>
              <a:rPr lang="en-US" sz="850" b="1" dirty="0">
                <a:solidFill>
                  <a:srgbClr val="44566E"/>
                </a:solidFill>
                <a:latin typeface="Calibri" pitchFamily="34" charset="0"/>
                <a:ea typeface="Calibri" pitchFamily="34" charset="-122"/>
                <a:cs typeface="Calibri" pitchFamily="34" charset="-120"/>
              </a:rPr>
              <a:t>Planned</a:t>
            </a:r>
            <a:endParaRPr lang="en-US" sz="850" dirty="0"/>
          </a:p>
        </p:txBody>
      </p:sp>
      <p:sp>
        <p:nvSpPr>
          <p:cNvPr id="50" name="Shape 48"/>
          <p:cNvSpPr/>
          <p:nvPr/>
        </p:nvSpPr>
        <p:spPr>
          <a:xfrm>
            <a:off x="8595360" y="1335024"/>
            <a:ext cx="2971800" cy="4407408"/>
          </a:xfrm>
          <a:prstGeom prst="roundRect">
            <a:avLst>
              <a:gd name="adj" fmla="val 2462"/>
            </a:avLst>
          </a:prstGeom>
          <a:solidFill>
            <a:srgbClr val="F1F4F8"/>
          </a:solidFill>
          <a:ln w="9525">
            <a:solidFill>
              <a:srgbClr val="D8DFE8"/>
            </a:solidFill>
            <a:prstDash val="solid"/>
          </a:ln>
        </p:spPr>
      </p:sp>
      <p:sp>
        <p:nvSpPr>
          <p:cNvPr id="51" name="Shape 49"/>
          <p:cNvSpPr/>
          <p:nvPr/>
        </p:nvSpPr>
        <p:spPr>
          <a:xfrm>
            <a:off x="8759952" y="1499616"/>
            <a:ext cx="2642616" cy="603504"/>
          </a:xfrm>
          <a:prstGeom prst="roundRect">
            <a:avLst>
              <a:gd name="adj" fmla="val 10606"/>
            </a:avLst>
          </a:prstGeom>
          <a:solidFill>
            <a:srgbClr val="0D1730"/>
          </a:solidFill>
          <a:ln/>
        </p:spPr>
      </p:sp>
      <p:sp>
        <p:nvSpPr>
          <p:cNvPr id="52" name="Text 50"/>
          <p:cNvSpPr/>
          <p:nvPr/>
        </p:nvSpPr>
        <p:spPr>
          <a:xfrm>
            <a:off x="8924544" y="1563624"/>
            <a:ext cx="2313432" cy="25603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Phase 3</a:t>
            </a:r>
            <a:endParaRPr lang="en-US" sz="1500" dirty="0"/>
          </a:p>
        </p:txBody>
      </p:sp>
      <p:sp>
        <p:nvSpPr>
          <p:cNvPr id="53" name="Text 51"/>
          <p:cNvSpPr/>
          <p:nvPr/>
        </p:nvSpPr>
        <p:spPr>
          <a:xfrm>
            <a:off x="8924544" y="1819656"/>
            <a:ext cx="2313432" cy="219456"/>
          </a:xfrm>
          <a:prstGeom prst="rect">
            <a:avLst/>
          </a:prstGeom>
          <a:noFill/>
          <a:ln/>
        </p:spPr>
        <p:txBody>
          <a:bodyPr wrap="square" lIns="0" tIns="0" rIns="0" bIns="0" rtlCol="0" anchor="ctr"/>
          <a:lstStyle/>
          <a:p>
            <a:pPr indent="0" marL="0">
              <a:buNone/>
            </a:pPr>
            <a:r>
              <a:rPr lang="en-US" sz="950" dirty="0">
                <a:solidFill>
                  <a:srgbClr val="02C39A"/>
                </a:solidFill>
                <a:latin typeface="Calibri" pitchFamily="34" charset="0"/>
                <a:ea typeface="Calibri" pitchFamily="34" charset="-122"/>
                <a:cs typeface="Calibri" pitchFamily="34" charset="-120"/>
              </a:rPr>
              <a:t>October – November 2026</a:t>
            </a:r>
            <a:endParaRPr lang="en-US" sz="950" dirty="0"/>
          </a:p>
        </p:txBody>
      </p:sp>
      <p:sp>
        <p:nvSpPr>
          <p:cNvPr id="54" name="Shape 52"/>
          <p:cNvSpPr/>
          <p:nvPr/>
        </p:nvSpPr>
        <p:spPr>
          <a:xfrm>
            <a:off x="8759952" y="2267712"/>
            <a:ext cx="2642616" cy="1572768"/>
          </a:xfrm>
          <a:prstGeom prst="roundRect">
            <a:avLst>
              <a:gd name="adj" fmla="val 3488"/>
            </a:avLst>
          </a:prstGeom>
          <a:solidFill>
            <a:srgbClr val="FFFFFF"/>
          </a:solidFill>
          <a:ln w="9525">
            <a:solidFill>
              <a:srgbClr val="D8DFE8"/>
            </a:solidFill>
            <a:prstDash val="solid"/>
          </a:ln>
        </p:spPr>
      </p:sp>
      <p:sp>
        <p:nvSpPr>
          <p:cNvPr id="55" name="Text 53"/>
          <p:cNvSpPr/>
          <p:nvPr/>
        </p:nvSpPr>
        <p:spPr>
          <a:xfrm>
            <a:off x="8906256" y="2468880"/>
            <a:ext cx="2350008" cy="713232"/>
          </a:xfrm>
          <a:prstGeom prst="rect">
            <a:avLst/>
          </a:prstGeom>
          <a:noFill/>
          <a:ln/>
        </p:spPr>
        <p:txBody>
          <a:bodyPr wrap="square" lIns="0" tIns="0" rIns="0" bIns="0" rtlCol="0" anchor="ctr"/>
          <a:lstStyle/>
          <a:p>
            <a:pPr indent="0" marL="0">
              <a:lnSpc>
                <a:spcPts val="1600"/>
              </a:lnSpc>
              <a:buNone/>
            </a:pPr>
            <a:r>
              <a:rPr lang="en-US" sz="1200" b="1" dirty="0">
                <a:solidFill>
                  <a:srgbClr val="16233F"/>
                </a:solidFill>
                <a:latin typeface="Calibri" pitchFamily="34" charset="0"/>
                <a:ea typeface="Calibri" pitchFamily="34" charset="-122"/>
                <a:cs typeface="Calibri" pitchFamily="34" charset="-120"/>
              </a:rPr>
              <a:t>TC Execution for Automation (Progression)</a:t>
            </a:r>
            <a:endParaRPr lang="en-US" sz="1200" dirty="0"/>
          </a:p>
        </p:txBody>
      </p:sp>
      <p:sp>
        <p:nvSpPr>
          <p:cNvPr id="56" name="Text 54"/>
          <p:cNvSpPr/>
          <p:nvPr/>
        </p:nvSpPr>
        <p:spPr>
          <a:xfrm>
            <a:off x="8906256" y="3273552"/>
            <a:ext cx="1472184" cy="256032"/>
          </a:xfrm>
          <a:prstGeom prst="rect">
            <a:avLst/>
          </a:prstGeom>
          <a:noFill/>
          <a:ln/>
        </p:spPr>
        <p:txBody>
          <a:bodyPr wrap="square" lIns="0" tIns="0" rIns="0" bIns="0" rtlCol="0" anchor="ctr"/>
          <a:lstStyle/>
          <a:p>
            <a:pPr indent="0" marL="0">
              <a:buNone/>
            </a:pPr>
            <a:r>
              <a:rPr lang="en-US" sz="1050" dirty="0">
                <a:solidFill>
                  <a:srgbClr val="0E7C86"/>
                </a:solidFill>
                <a:latin typeface="Calibri" pitchFamily="34" charset="0"/>
                <a:ea typeface="Calibri" pitchFamily="34" charset="-122"/>
                <a:cs typeface="Calibri" pitchFamily="34" charset="-120"/>
              </a:rPr>
              <a:t>1 – 30 October</a:t>
            </a:r>
            <a:endParaRPr lang="en-US" sz="1050" dirty="0"/>
          </a:p>
        </p:txBody>
      </p:sp>
      <p:sp>
        <p:nvSpPr>
          <p:cNvPr id="57" name="Shape 55"/>
          <p:cNvSpPr/>
          <p:nvPr/>
        </p:nvSpPr>
        <p:spPr>
          <a:xfrm>
            <a:off x="10396728" y="3282696"/>
            <a:ext cx="786384" cy="237744"/>
          </a:xfrm>
          <a:prstGeom prst="roundRect">
            <a:avLst>
              <a:gd name="adj" fmla="val 50000"/>
            </a:avLst>
          </a:prstGeom>
          <a:solidFill>
            <a:srgbClr val="E3E9F1"/>
          </a:solidFill>
          <a:ln/>
        </p:spPr>
      </p:sp>
      <p:sp>
        <p:nvSpPr>
          <p:cNvPr id="58" name="Text 56"/>
          <p:cNvSpPr/>
          <p:nvPr/>
        </p:nvSpPr>
        <p:spPr>
          <a:xfrm>
            <a:off x="10396728" y="3282696"/>
            <a:ext cx="786384" cy="237744"/>
          </a:xfrm>
          <a:prstGeom prst="rect">
            <a:avLst/>
          </a:prstGeom>
          <a:noFill/>
          <a:ln/>
        </p:spPr>
        <p:txBody>
          <a:bodyPr wrap="square" lIns="0" tIns="0" rIns="0" bIns="0" rtlCol="0" anchor="ctr"/>
          <a:lstStyle/>
          <a:p>
            <a:pPr algn="ctr" indent="0" marL="0">
              <a:buNone/>
            </a:pPr>
            <a:r>
              <a:rPr lang="en-US" sz="850" b="1" dirty="0">
                <a:solidFill>
                  <a:srgbClr val="44566E"/>
                </a:solidFill>
                <a:latin typeface="Calibri" pitchFamily="34" charset="0"/>
                <a:ea typeface="Calibri" pitchFamily="34" charset="-122"/>
                <a:cs typeface="Calibri" pitchFamily="34" charset="-120"/>
              </a:rPr>
              <a:t>Planned</a:t>
            </a:r>
            <a:endParaRPr lang="en-US" sz="850" dirty="0"/>
          </a:p>
        </p:txBody>
      </p:sp>
      <p:sp>
        <p:nvSpPr>
          <p:cNvPr id="59" name="Shape 57"/>
          <p:cNvSpPr/>
          <p:nvPr/>
        </p:nvSpPr>
        <p:spPr>
          <a:xfrm>
            <a:off x="8759952" y="4059936"/>
            <a:ext cx="2642616" cy="1572768"/>
          </a:xfrm>
          <a:prstGeom prst="roundRect">
            <a:avLst>
              <a:gd name="adj" fmla="val 3488"/>
            </a:avLst>
          </a:prstGeom>
          <a:solidFill>
            <a:srgbClr val="FFFFFF"/>
          </a:solidFill>
          <a:ln w="9525">
            <a:solidFill>
              <a:srgbClr val="D8DFE8"/>
            </a:solidFill>
            <a:prstDash val="solid"/>
          </a:ln>
        </p:spPr>
      </p:sp>
      <p:sp>
        <p:nvSpPr>
          <p:cNvPr id="60" name="Text 58"/>
          <p:cNvSpPr/>
          <p:nvPr/>
        </p:nvSpPr>
        <p:spPr>
          <a:xfrm>
            <a:off x="8906256" y="4261104"/>
            <a:ext cx="2350008" cy="713232"/>
          </a:xfrm>
          <a:prstGeom prst="rect">
            <a:avLst/>
          </a:prstGeom>
          <a:noFill/>
          <a:ln/>
        </p:spPr>
        <p:txBody>
          <a:bodyPr wrap="square" lIns="0" tIns="0" rIns="0" bIns="0" rtlCol="0" anchor="ctr"/>
          <a:lstStyle/>
          <a:p>
            <a:pPr indent="0" marL="0">
              <a:lnSpc>
                <a:spcPts val="1600"/>
              </a:lnSpc>
              <a:buNone/>
            </a:pPr>
            <a:r>
              <a:rPr lang="en-US" sz="1200" b="1" dirty="0">
                <a:solidFill>
                  <a:srgbClr val="16233F"/>
                </a:solidFill>
                <a:latin typeface="Calibri" pitchFamily="34" charset="0"/>
                <a:ea typeface="Calibri" pitchFamily="34" charset="-122"/>
                <a:cs typeface="Calibri" pitchFamily="34" charset="-120"/>
              </a:rPr>
              <a:t>TC Execution Estimation of Manual TCs</a:t>
            </a:r>
            <a:endParaRPr lang="en-US" sz="1200" dirty="0"/>
          </a:p>
        </p:txBody>
      </p:sp>
      <p:sp>
        <p:nvSpPr>
          <p:cNvPr id="61" name="Text 59"/>
          <p:cNvSpPr/>
          <p:nvPr/>
        </p:nvSpPr>
        <p:spPr>
          <a:xfrm>
            <a:off x="8906256" y="5065776"/>
            <a:ext cx="1472184" cy="256032"/>
          </a:xfrm>
          <a:prstGeom prst="rect">
            <a:avLst/>
          </a:prstGeom>
          <a:noFill/>
          <a:ln/>
        </p:spPr>
        <p:txBody>
          <a:bodyPr wrap="square" lIns="0" tIns="0" rIns="0" bIns="0" rtlCol="0" anchor="ctr"/>
          <a:lstStyle/>
          <a:p>
            <a:pPr indent="0" marL="0">
              <a:buNone/>
            </a:pPr>
            <a:r>
              <a:rPr lang="en-US" sz="1050" dirty="0">
                <a:solidFill>
                  <a:srgbClr val="0E7C86"/>
                </a:solidFill>
                <a:latin typeface="Calibri" pitchFamily="34" charset="0"/>
                <a:ea typeface="Calibri" pitchFamily="34" charset="-122"/>
                <a:cs typeface="Calibri" pitchFamily="34" charset="-120"/>
              </a:rPr>
              <a:t>1 – 10 November</a:t>
            </a:r>
            <a:endParaRPr lang="en-US" sz="1050" dirty="0"/>
          </a:p>
        </p:txBody>
      </p:sp>
      <p:sp>
        <p:nvSpPr>
          <p:cNvPr id="62" name="Shape 60"/>
          <p:cNvSpPr/>
          <p:nvPr/>
        </p:nvSpPr>
        <p:spPr>
          <a:xfrm>
            <a:off x="10396728" y="5074920"/>
            <a:ext cx="786384" cy="237744"/>
          </a:xfrm>
          <a:prstGeom prst="roundRect">
            <a:avLst>
              <a:gd name="adj" fmla="val 50000"/>
            </a:avLst>
          </a:prstGeom>
          <a:solidFill>
            <a:srgbClr val="E3E9F1"/>
          </a:solidFill>
          <a:ln/>
        </p:spPr>
      </p:sp>
      <p:sp>
        <p:nvSpPr>
          <p:cNvPr id="63" name="Text 61"/>
          <p:cNvSpPr/>
          <p:nvPr/>
        </p:nvSpPr>
        <p:spPr>
          <a:xfrm>
            <a:off x="10396728" y="5074920"/>
            <a:ext cx="786384" cy="237744"/>
          </a:xfrm>
          <a:prstGeom prst="rect">
            <a:avLst/>
          </a:prstGeom>
          <a:noFill/>
          <a:ln/>
        </p:spPr>
        <p:txBody>
          <a:bodyPr wrap="square" lIns="0" tIns="0" rIns="0" bIns="0" rtlCol="0" anchor="ctr"/>
          <a:lstStyle/>
          <a:p>
            <a:pPr algn="ctr" indent="0" marL="0">
              <a:buNone/>
            </a:pPr>
            <a:r>
              <a:rPr lang="en-US" sz="850" b="1" dirty="0">
                <a:solidFill>
                  <a:srgbClr val="44566E"/>
                </a:solidFill>
                <a:latin typeface="Calibri" pitchFamily="34" charset="0"/>
                <a:ea typeface="Calibri" pitchFamily="34" charset="-122"/>
                <a:cs typeface="Calibri" pitchFamily="34" charset="-120"/>
              </a:rPr>
              <a:t>Planned</a:t>
            </a:r>
            <a:endParaRPr lang="en-US" sz="850" dirty="0"/>
          </a:p>
        </p:txBody>
      </p:sp>
      <p:sp>
        <p:nvSpPr>
          <p:cNvPr id="64" name="Text 62"/>
          <p:cNvSpPr/>
          <p:nvPr/>
        </p:nvSpPr>
        <p:spPr>
          <a:xfrm>
            <a:off x="502920" y="5998464"/>
            <a:ext cx="11185855" cy="457200"/>
          </a:xfrm>
          <a:prstGeom prst="rect">
            <a:avLst/>
          </a:prstGeom>
          <a:noFill/>
          <a:ln/>
        </p:spPr>
        <p:txBody>
          <a:bodyPr wrap="square" lIns="0" tIns="0" rIns="0" bIns="0" rtlCol="0" anchor="ctr"/>
          <a:lstStyle/>
          <a:p>
            <a:pPr indent="0" marL="0">
              <a:lnSpc>
                <a:spcPts val="1400"/>
              </a:lnSpc>
              <a:buNone/>
            </a:pPr>
            <a:r>
              <a:rPr lang="en-US" sz="1050" i="1" dirty="0">
                <a:solidFill>
                  <a:srgbClr val="5C6B84"/>
                </a:solidFill>
                <a:latin typeface="Calibri" pitchFamily="34" charset="0"/>
                <a:ea typeface="Calibri" pitchFamily="34" charset="-122"/>
                <a:cs typeface="Calibri" pitchFamily="34" charset="-120"/>
              </a:rPr>
              <a:t>Phase 1 delivers the governed requirement-to-test-case chain already in production use. Phases 2 and 3 extend the platform into regression execution, enablement and effort estimation.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85855" cy="237744"/>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STRATEGIC CAPABILITY</a:t>
            </a:r>
            <a:endParaRPr lang="en-US" sz="1100" dirty="0"/>
          </a:p>
        </p:txBody>
      </p:sp>
      <p:sp>
        <p:nvSpPr>
          <p:cNvPr id="3" name="Text 1"/>
          <p:cNvSpPr/>
          <p:nvPr/>
        </p:nvSpPr>
        <p:spPr>
          <a:xfrm>
            <a:off x="502920" y="585216"/>
            <a:ext cx="11185855" cy="566928"/>
          </a:xfrm>
          <a:prstGeom prst="rect">
            <a:avLst/>
          </a:prstGeom>
          <a:noFill/>
          <a:ln/>
        </p:spPr>
        <p:txBody>
          <a:bodyPr wrap="square" lIns="0" tIns="0" rIns="0" bIns="0" rtlCol="0" anchor="ctr"/>
          <a:lstStyle/>
          <a:p>
            <a:pPr indent="0" marL="0">
              <a:buNone/>
            </a:pPr>
            <a:r>
              <a:rPr lang="en-US" sz="3200" b="1" dirty="0">
                <a:solidFill>
                  <a:srgbClr val="16233F"/>
                </a:solidFill>
                <a:latin typeface="Cambria" pitchFamily="34" charset="0"/>
                <a:ea typeface="Cambria" pitchFamily="34" charset="-122"/>
                <a:cs typeface="Cambria" pitchFamily="34" charset="-120"/>
              </a:rPr>
              <a:t>Knowledge Base &amp; RAG as a Strategic Foundation</a:t>
            </a:r>
            <a:endParaRPr lang="en-US" sz="3200" dirty="0"/>
          </a:p>
        </p:txBody>
      </p:sp>
      <p:sp>
        <p:nvSpPr>
          <p:cNvPr id="4" name="Shape 2"/>
          <p:cNvSpPr/>
          <p:nvPr/>
        </p:nvSpPr>
        <p:spPr>
          <a:xfrm>
            <a:off x="502920" y="1371600"/>
            <a:ext cx="3520440" cy="3291840"/>
          </a:xfrm>
          <a:prstGeom prst="roundRect">
            <a:avLst>
              <a:gd name="adj" fmla="val 2222"/>
            </a:avLst>
          </a:prstGeom>
          <a:solidFill>
            <a:srgbClr val="0D1730"/>
          </a:solidFill>
          <a:ln/>
        </p:spPr>
      </p:sp>
      <p:sp>
        <p:nvSpPr>
          <p:cNvPr id="5" name="Text 3"/>
          <p:cNvSpPr/>
          <p:nvPr/>
        </p:nvSpPr>
        <p:spPr>
          <a:xfrm>
            <a:off x="777240" y="1627632"/>
            <a:ext cx="2971800" cy="237744"/>
          </a:xfrm>
          <a:prstGeom prst="rect">
            <a:avLst/>
          </a:prstGeom>
          <a:noFill/>
          <a:ln/>
        </p:spPr>
        <p:txBody>
          <a:bodyPr wrap="square" lIns="0" tIns="0" rIns="0" bIns="0" rtlCol="0" anchor="ctr"/>
          <a:lstStyle/>
          <a:p>
            <a:pPr indent="0" marL="0">
              <a:buNone/>
            </a:pPr>
            <a:r>
              <a:rPr lang="en-US" sz="950" b="1" spc="140" kern="0" dirty="0">
                <a:solidFill>
                  <a:srgbClr val="02C39A"/>
                </a:solidFill>
                <a:latin typeface="Calibri" pitchFamily="34" charset="0"/>
                <a:ea typeface="Calibri" pitchFamily="34" charset="-122"/>
                <a:cs typeface="Calibri" pitchFamily="34" charset="-120"/>
              </a:rPr>
              <a:t>PURPOSE</a:t>
            </a:r>
            <a:endParaRPr lang="en-US" sz="950" dirty="0"/>
          </a:p>
        </p:txBody>
      </p:sp>
      <p:sp>
        <p:nvSpPr>
          <p:cNvPr id="6" name="Text 4"/>
          <p:cNvSpPr/>
          <p:nvPr/>
        </p:nvSpPr>
        <p:spPr>
          <a:xfrm>
            <a:off x="777240" y="1920240"/>
            <a:ext cx="2971800" cy="868680"/>
          </a:xfrm>
          <a:prstGeom prst="rect">
            <a:avLst/>
          </a:prstGeom>
          <a:noFill/>
          <a:ln/>
        </p:spPr>
        <p:txBody>
          <a:bodyPr wrap="square" lIns="0" tIns="0" rIns="0" bIns="0" rtlCol="0" anchor="ctr"/>
          <a:lstStyle/>
          <a:p>
            <a:pPr indent="0" marL="0">
              <a:lnSpc>
                <a:spcPts val="2500"/>
              </a:lnSpc>
              <a:buNone/>
            </a:pPr>
            <a:r>
              <a:rPr lang="en-US" sz="1900" b="1" dirty="0">
                <a:solidFill>
                  <a:srgbClr val="FFFFFF"/>
                </a:solidFill>
                <a:latin typeface="Cambria" pitchFamily="34" charset="0"/>
                <a:ea typeface="Cambria" pitchFamily="34" charset="-122"/>
                <a:cs typeface="Cambria" pitchFamily="34" charset="-120"/>
              </a:rPr>
              <a:t>A trusted knowledge layer for the whole test life cycle</a:t>
            </a:r>
            <a:endParaRPr lang="en-US" sz="1900" dirty="0"/>
          </a:p>
        </p:txBody>
      </p:sp>
      <p:sp>
        <p:nvSpPr>
          <p:cNvPr id="7" name="Text 5"/>
          <p:cNvSpPr/>
          <p:nvPr/>
        </p:nvSpPr>
        <p:spPr>
          <a:xfrm>
            <a:off x="777240" y="2852928"/>
            <a:ext cx="2971800" cy="1463040"/>
          </a:xfrm>
          <a:prstGeom prst="rect">
            <a:avLst/>
          </a:prstGeom>
          <a:noFill/>
          <a:ln/>
        </p:spPr>
        <p:txBody>
          <a:bodyPr wrap="square" lIns="0" tIns="0" rIns="0" bIns="0" rtlCol="0" anchor="ctr"/>
          <a:lstStyle/>
          <a:p>
            <a:pPr indent="0" marL="0">
              <a:lnSpc>
                <a:spcPts val="1700"/>
              </a:lnSpc>
              <a:buNone/>
            </a:pPr>
            <a:r>
              <a:rPr lang="en-US" sz="1150" dirty="0">
                <a:solidFill>
                  <a:srgbClr val="A8B6D1"/>
                </a:solidFill>
                <a:latin typeface="Calibri" pitchFamily="34" charset="0"/>
                <a:ea typeface="Calibri" pitchFamily="34" charset="-122"/>
                <a:cs typeface="Calibri" pitchFamily="34" charset="-120"/>
              </a:rPr>
              <a:t>It improves requirement understanding, test case generation, automation decisions and execution learning — grounded in what the enterprise already knows.</a:t>
            </a:r>
            <a:endParaRPr lang="en-US" sz="1150" dirty="0"/>
          </a:p>
        </p:txBody>
      </p:sp>
      <p:sp>
        <p:nvSpPr>
          <p:cNvPr id="8" name="Shape 6"/>
          <p:cNvSpPr/>
          <p:nvPr/>
        </p:nvSpPr>
        <p:spPr>
          <a:xfrm>
            <a:off x="4297680" y="1371600"/>
            <a:ext cx="3566160" cy="3291840"/>
          </a:xfrm>
          <a:prstGeom prst="roundRect">
            <a:avLst>
              <a:gd name="adj" fmla="val 2222"/>
            </a:avLst>
          </a:prstGeom>
          <a:solidFill>
            <a:srgbClr val="F1F4F8"/>
          </a:solidFill>
          <a:ln w="9525">
            <a:solidFill>
              <a:srgbClr val="D8DFE8"/>
            </a:solidFill>
            <a:prstDash val="solid"/>
          </a:ln>
        </p:spPr>
      </p:sp>
      <p:sp>
        <p:nvSpPr>
          <p:cNvPr id="9" name="Text 7"/>
          <p:cNvSpPr/>
          <p:nvPr/>
        </p:nvSpPr>
        <p:spPr>
          <a:xfrm>
            <a:off x="4572000" y="1609344"/>
            <a:ext cx="3017520" cy="329184"/>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Business Value</a:t>
            </a:r>
            <a:endParaRPr lang="en-US" sz="1500" dirty="0"/>
          </a:p>
        </p:txBody>
      </p:sp>
      <p:sp>
        <p:nvSpPr>
          <p:cNvPr id="10" name="Shape 8"/>
          <p:cNvSpPr/>
          <p:nvPr/>
        </p:nvSpPr>
        <p:spPr>
          <a:xfrm>
            <a:off x="4590288" y="2167128"/>
            <a:ext cx="128016" cy="128016"/>
          </a:xfrm>
          <a:prstGeom prst="ellipse">
            <a:avLst/>
          </a:prstGeom>
          <a:solidFill>
            <a:srgbClr val="0E7C86"/>
          </a:solidFill>
          <a:ln/>
        </p:spPr>
      </p:sp>
      <p:sp>
        <p:nvSpPr>
          <p:cNvPr id="11" name="Text 9"/>
          <p:cNvSpPr/>
          <p:nvPr/>
        </p:nvSpPr>
        <p:spPr>
          <a:xfrm>
            <a:off x="4882896" y="2057400"/>
            <a:ext cx="2688336" cy="548640"/>
          </a:xfrm>
          <a:prstGeom prst="rect">
            <a:avLst/>
          </a:prstGeom>
          <a:noFill/>
          <a:ln/>
        </p:spPr>
        <p:txBody>
          <a:bodyPr wrap="square" lIns="0" tIns="0" rIns="0" bIns="0" rtlCol="0" anchor="ctr"/>
          <a:lstStyle/>
          <a:p>
            <a:pPr indent="0" marL="0">
              <a:lnSpc>
                <a:spcPts val="1300"/>
              </a:lnSpc>
              <a:buNone/>
            </a:pPr>
            <a:r>
              <a:rPr lang="en-US" sz="1050" dirty="0">
                <a:solidFill>
                  <a:srgbClr val="5C6B84"/>
                </a:solidFill>
                <a:latin typeface="Calibri" pitchFamily="34" charset="0"/>
                <a:ea typeface="Calibri" pitchFamily="34" charset="-122"/>
                <a:cs typeface="Calibri" pitchFamily="34" charset="-120"/>
              </a:rPr>
              <a:t>Faster test design and automation readiness</a:t>
            </a:r>
            <a:endParaRPr lang="en-US" sz="1050" dirty="0"/>
          </a:p>
        </p:txBody>
      </p:sp>
      <p:sp>
        <p:nvSpPr>
          <p:cNvPr id="12" name="Shape 10"/>
          <p:cNvSpPr/>
          <p:nvPr/>
        </p:nvSpPr>
        <p:spPr>
          <a:xfrm>
            <a:off x="4590288" y="2770632"/>
            <a:ext cx="128016" cy="128016"/>
          </a:xfrm>
          <a:prstGeom prst="ellipse">
            <a:avLst/>
          </a:prstGeom>
          <a:solidFill>
            <a:srgbClr val="0E7C86"/>
          </a:solidFill>
          <a:ln/>
        </p:spPr>
      </p:sp>
      <p:sp>
        <p:nvSpPr>
          <p:cNvPr id="13" name="Text 11"/>
          <p:cNvSpPr/>
          <p:nvPr/>
        </p:nvSpPr>
        <p:spPr>
          <a:xfrm>
            <a:off x="4882896" y="2660904"/>
            <a:ext cx="2688336" cy="548640"/>
          </a:xfrm>
          <a:prstGeom prst="rect">
            <a:avLst/>
          </a:prstGeom>
          <a:noFill/>
          <a:ln/>
        </p:spPr>
        <p:txBody>
          <a:bodyPr wrap="square" lIns="0" tIns="0" rIns="0" bIns="0" rtlCol="0" anchor="ctr"/>
          <a:lstStyle/>
          <a:p>
            <a:pPr indent="0" marL="0">
              <a:lnSpc>
                <a:spcPts val="1300"/>
              </a:lnSpc>
              <a:buNone/>
            </a:pPr>
            <a:r>
              <a:rPr lang="en-US" sz="1050" dirty="0">
                <a:solidFill>
                  <a:srgbClr val="5C6B84"/>
                </a:solidFill>
                <a:latin typeface="Calibri" pitchFamily="34" charset="0"/>
                <a:ea typeface="Calibri" pitchFamily="34" charset="-122"/>
                <a:cs typeface="Calibri" pitchFamily="34" charset="-120"/>
              </a:rPr>
              <a:t>Reuse of existing requirements, test cases, rules and execution knowledge</a:t>
            </a:r>
            <a:endParaRPr lang="en-US" sz="1050" dirty="0"/>
          </a:p>
        </p:txBody>
      </p:sp>
      <p:sp>
        <p:nvSpPr>
          <p:cNvPr id="14" name="Shape 12"/>
          <p:cNvSpPr/>
          <p:nvPr/>
        </p:nvSpPr>
        <p:spPr>
          <a:xfrm>
            <a:off x="4590288" y="3374136"/>
            <a:ext cx="128016" cy="128016"/>
          </a:xfrm>
          <a:prstGeom prst="ellipse">
            <a:avLst/>
          </a:prstGeom>
          <a:solidFill>
            <a:srgbClr val="0E7C86"/>
          </a:solidFill>
          <a:ln/>
        </p:spPr>
      </p:sp>
      <p:sp>
        <p:nvSpPr>
          <p:cNvPr id="15" name="Text 13"/>
          <p:cNvSpPr/>
          <p:nvPr/>
        </p:nvSpPr>
        <p:spPr>
          <a:xfrm>
            <a:off x="4882896" y="3264408"/>
            <a:ext cx="2688336" cy="548640"/>
          </a:xfrm>
          <a:prstGeom prst="rect">
            <a:avLst/>
          </a:prstGeom>
          <a:noFill/>
          <a:ln/>
        </p:spPr>
        <p:txBody>
          <a:bodyPr wrap="square" lIns="0" tIns="0" rIns="0" bIns="0" rtlCol="0" anchor="ctr"/>
          <a:lstStyle/>
          <a:p>
            <a:pPr indent="0" marL="0">
              <a:lnSpc>
                <a:spcPts val="1300"/>
              </a:lnSpc>
              <a:buNone/>
            </a:pPr>
            <a:r>
              <a:rPr lang="en-US" sz="1050" dirty="0">
                <a:solidFill>
                  <a:srgbClr val="5C6B84"/>
                </a:solidFill>
                <a:latin typeface="Calibri" pitchFamily="34" charset="0"/>
                <a:ea typeface="Calibri" pitchFamily="34" charset="-122"/>
                <a:cs typeface="Calibri" pitchFamily="34" charset="-120"/>
              </a:rPr>
              <a:t>Reduced dependency on individual SMEs</a:t>
            </a:r>
            <a:endParaRPr lang="en-US" sz="1050" dirty="0"/>
          </a:p>
        </p:txBody>
      </p:sp>
      <p:sp>
        <p:nvSpPr>
          <p:cNvPr id="16" name="Shape 14"/>
          <p:cNvSpPr/>
          <p:nvPr/>
        </p:nvSpPr>
        <p:spPr>
          <a:xfrm>
            <a:off x="4590288" y="3977640"/>
            <a:ext cx="128016" cy="128016"/>
          </a:xfrm>
          <a:prstGeom prst="ellipse">
            <a:avLst/>
          </a:prstGeom>
          <a:solidFill>
            <a:srgbClr val="0E7C86"/>
          </a:solidFill>
          <a:ln/>
        </p:spPr>
      </p:sp>
      <p:sp>
        <p:nvSpPr>
          <p:cNvPr id="17" name="Text 15"/>
          <p:cNvSpPr/>
          <p:nvPr/>
        </p:nvSpPr>
        <p:spPr>
          <a:xfrm>
            <a:off x="4882896" y="3867912"/>
            <a:ext cx="2688336" cy="548640"/>
          </a:xfrm>
          <a:prstGeom prst="rect">
            <a:avLst/>
          </a:prstGeom>
          <a:noFill/>
          <a:ln/>
        </p:spPr>
        <p:txBody>
          <a:bodyPr wrap="square" lIns="0" tIns="0" rIns="0" bIns="0" rtlCol="0" anchor="ctr"/>
          <a:lstStyle/>
          <a:p>
            <a:pPr indent="0" marL="0">
              <a:lnSpc>
                <a:spcPts val="1300"/>
              </a:lnSpc>
              <a:buNone/>
            </a:pPr>
            <a:r>
              <a:rPr lang="en-US" sz="1050" dirty="0">
                <a:solidFill>
                  <a:srgbClr val="5C6B84"/>
                </a:solidFill>
                <a:latin typeface="Calibri" pitchFamily="34" charset="0"/>
                <a:ea typeface="Calibri" pitchFamily="34" charset="-122"/>
                <a:cs typeface="Calibri" pitchFamily="34" charset="-120"/>
              </a:rPr>
              <a:t>Improved traceability and audit confidence</a:t>
            </a:r>
            <a:endParaRPr lang="en-US" sz="1050" dirty="0"/>
          </a:p>
        </p:txBody>
      </p:sp>
      <p:sp>
        <p:nvSpPr>
          <p:cNvPr id="18" name="Shape 16"/>
          <p:cNvSpPr/>
          <p:nvPr/>
        </p:nvSpPr>
        <p:spPr>
          <a:xfrm>
            <a:off x="8074152" y="1371600"/>
            <a:ext cx="3566160" cy="3291840"/>
          </a:xfrm>
          <a:prstGeom prst="roundRect">
            <a:avLst>
              <a:gd name="adj" fmla="val 2222"/>
            </a:avLst>
          </a:prstGeom>
          <a:solidFill>
            <a:srgbClr val="F1F4F8"/>
          </a:solidFill>
          <a:ln w="9525">
            <a:solidFill>
              <a:srgbClr val="D8DFE8"/>
            </a:solidFill>
            <a:prstDash val="solid"/>
          </a:ln>
        </p:spPr>
      </p:sp>
      <p:sp>
        <p:nvSpPr>
          <p:cNvPr id="19" name="Text 17"/>
          <p:cNvSpPr/>
          <p:nvPr/>
        </p:nvSpPr>
        <p:spPr>
          <a:xfrm>
            <a:off x="8348472" y="1609344"/>
            <a:ext cx="3017520" cy="329184"/>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Governance &amp; Risk Control</a:t>
            </a:r>
            <a:endParaRPr lang="en-US" sz="1500" dirty="0"/>
          </a:p>
        </p:txBody>
      </p:sp>
      <p:sp>
        <p:nvSpPr>
          <p:cNvPr id="20" name="Shape 18"/>
          <p:cNvSpPr/>
          <p:nvPr/>
        </p:nvSpPr>
        <p:spPr>
          <a:xfrm>
            <a:off x="8366760" y="2167128"/>
            <a:ext cx="128016" cy="128016"/>
          </a:xfrm>
          <a:prstGeom prst="ellipse">
            <a:avLst/>
          </a:prstGeom>
          <a:solidFill>
            <a:srgbClr val="0E7C86"/>
          </a:solidFill>
          <a:ln/>
        </p:spPr>
      </p:sp>
      <p:sp>
        <p:nvSpPr>
          <p:cNvPr id="21" name="Text 19"/>
          <p:cNvSpPr/>
          <p:nvPr/>
        </p:nvSpPr>
        <p:spPr>
          <a:xfrm>
            <a:off x="8659368" y="2057400"/>
            <a:ext cx="2688336" cy="548640"/>
          </a:xfrm>
          <a:prstGeom prst="rect">
            <a:avLst/>
          </a:prstGeom>
          <a:noFill/>
          <a:ln/>
        </p:spPr>
        <p:txBody>
          <a:bodyPr wrap="square" lIns="0" tIns="0" rIns="0" bIns="0" rtlCol="0" anchor="ctr"/>
          <a:lstStyle/>
          <a:p>
            <a:pPr indent="0" marL="0">
              <a:lnSpc>
                <a:spcPts val="1300"/>
              </a:lnSpc>
              <a:buNone/>
            </a:pPr>
            <a:r>
              <a:rPr lang="en-US" sz="1050" dirty="0">
                <a:solidFill>
                  <a:srgbClr val="5C6B84"/>
                </a:solidFill>
                <a:latin typeface="Calibri" pitchFamily="34" charset="0"/>
                <a:ea typeface="Calibri" pitchFamily="34" charset="-122"/>
                <a:cs typeface="Calibri" pitchFamily="34" charset="-120"/>
              </a:rPr>
              <a:t>Only approved knowledge is used</a:t>
            </a:r>
            <a:endParaRPr lang="en-US" sz="1050" dirty="0"/>
          </a:p>
        </p:txBody>
      </p:sp>
      <p:sp>
        <p:nvSpPr>
          <p:cNvPr id="22" name="Shape 20"/>
          <p:cNvSpPr/>
          <p:nvPr/>
        </p:nvSpPr>
        <p:spPr>
          <a:xfrm>
            <a:off x="8366760" y="2770632"/>
            <a:ext cx="128016" cy="128016"/>
          </a:xfrm>
          <a:prstGeom prst="ellipse">
            <a:avLst/>
          </a:prstGeom>
          <a:solidFill>
            <a:srgbClr val="0E7C86"/>
          </a:solidFill>
          <a:ln/>
        </p:spPr>
      </p:sp>
      <p:sp>
        <p:nvSpPr>
          <p:cNvPr id="23" name="Text 21"/>
          <p:cNvSpPr/>
          <p:nvPr/>
        </p:nvSpPr>
        <p:spPr>
          <a:xfrm>
            <a:off x="8659368" y="2660904"/>
            <a:ext cx="2688336" cy="548640"/>
          </a:xfrm>
          <a:prstGeom prst="rect">
            <a:avLst/>
          </a:prstGeom>
          <a:noFill/>
          <a:ln/>
        </p:spPr>
        <p:txBody>
          <a:bodyPr wrap="square" lIns="0" tIns="0" rIns="0" bIns="0" rtlCol="0" anchor="ctr"/>
          <a:lstStyle/>
          <a:p>
            <a:pPr indent="0" marL="0">
              <a:lnSpc>
                <a:spcPts val="1300"/>
              </a:lnSpc>
              <a:buNone/>
            </a:pPr>
            <a:r>
              <a:rPr lang="en-US" sz="1050" dirty="0">
                <a:solidFill>
                  <a:srgbClr val="5C6B84"/>
                </a:solidFill>
                <a:latin typeface="Calibri" pitchFamily="34" charset="0"/>
                <a:ea typeface="Calibri" pitchFamily="34" charset="-122"/>
                <a:cs typeface="Calibri" pitchFamily="34" charset="-120"/>
              </a:rPr>
              <a:t>Strong project-level access control</a:t>
            </a:r>
            <a:endParaRPr lang="en-US" sz="1050" dirty="0"/>
          </a:p>
        </p:txBody>
      </p:sp>
      <p:sp>
        <p:nvSpPr>
          <p:cNvPr id="24" name="Shape 22"/>
          <p:cNvSpPr/>
          <p:nvPr/>
        </p:nvSpPr>
        <p:spPr>
          <a:xfrm>
            <a:off x="8366760" y="3374136"/>
            <a:ext cx="128016" cy="128016"/>
          </a:xfrm>
          <a:prstGeom prst="ellipse">
            <a:avLst/>
          </a:prstGeom>
          <a:solidFill>
            <a:srgbClr val="0E7C86"/>
          </a:solidFill>
          <a:ln/>
        </p:spPr>
      </p:sp>
      <p:sp>
        <p:nvSpPr>
          <p:cNvPr id="25" name="Text 23"/>
          <p:cNvSpPr/>
          <p:nvPr/>
        </p:nvSpPr>
        <p:spPr>
          <a:xfrm>
            <a:off x="8659368" y="3264408"/>
            <a:ext cx="2688336" cy="548640"/>
          </a:xfrm>
          <a:prstGeom prst="rect">
            <a:avLst/>
          </a:prstGeom>
          <a:noFill/>
          <a:ln/>
        </p:spPr>
        <p:txBody>
          <a:bodyPr wrap="square" lIns="0" tIns="0" rIns="0" bIns="0" rtlCol="0" anchor="ctr"/>
          <a:lstStyle/>
          <a:p>
            <a:pPr indent="0" marL="0">
              <a:lnSpc>
                <a:spcPts val="1300"/>
              </a:lnSpc>
              <a:buNone/>
            </a:pPr>
            <a:r>
              <a:rPr lang="en-US" sz="1050" dirty="0">
                <a:solidFill>
                  <a:srgbClr val="5C6B84"/>
                </a:solidFill>
                <a:latin typeface="Calibri" pitchFamily="34" charset="0"/>
                <a:ea typeface="Calibri" pitchFamily="34" charset="-122"/>
                <a:cs typeface="Calibri" pitchFamily="34" charset="-120"/>
              </a:rPr>
              <a:t>Every AI answer must show evidence</a:t>
            </a:r>
            <a:endParaRPr lang="en-US" sz="1050" dirty="0"/>
          </a:p>
        </p:txBody>
      </p:sp>
      <p:sp>
        <p:nvSpPr>
          <p:cNvPr id="26" name="Shape 24"/>
          <p:cNvSpPr/>
          <p:nvPr/>
        </p:nvSpPr>
        <p:spPr>
          <a:xfrm>
            <a:off x="8366760" y="3977640"/>
            <a:ext cx="128016" cy="128016"/>
          </a:xfrm>
          <a:prstGeom prst="ellipse">
            <a:avLst/>
          </a:prstGeom>
          <a:solidFill>
            <a:srgbClr val="0E7C86"/>
          </a:solidFill>
          <a:ln/>
        </p:spPr>
      </p:sp>
      <p:sp>
        <p:nvSpPr>
          <p:cNvPr id="27" name="Text 25"/>
          <p:cNvSpPr/>
          <p:nvPr/>
        </p:nvSpPr>
        <p:spPr>
          <a:xfrm>
            <a:off x="8659368" y="3867912"/>
            <a:ext cx="2688336" cy="548640"/>
          </a:xfrm>
          <a:prstGeom prst="rect">
            <a:avLst/>
          </a:prstGeom>
          <a:noFill/>
          <a:ln/>
        </p:spPr>
        <p:txBody>
          <a:bodyPr wrap="square" lIns="0" tIns="0" rIns="0" bIns="0" rtlCol="0" anchor="ctr"/>
          <a:lstStyle/>
          <a:p>
            <a:pPr indent="0" marL="0">
              <a:lnSpc>
                <a:spcPts val="1300"/>
              </a:lnSpc>
              <a:buNone/>
            </a:pPr>
            <a:r>
              <a:rPr lang="en-US" sz="1050" dirty="0">
                <a:solidFill>
                  <a:srgbClr val="5C6B84"/>
                </a:solidFill>
                <a:latin typeface="Calibri" pitchFamily="34" charset="0"/>
                <a:ea typeface="Calibri" pitchFamily="34" charset="-122"/>
                <a:cs typeface="Calibri" pitchFamily="34" charset="-120"/>
              </a:rPr>
              <a:t>System avoids unsupported or risky responses</a:t>
            </a:r>
            <a:endParaRPr lang="en-US" sz="1050" dirty="0"/>
          </a:p>
        </p:txBody>
      </p:sp>
      <p:sp>
        <p:nvSpPr>
          <p:cNvPr id="28" name="Shape 26"/>
          <p:cNvSpPr/>
          <p:nvPr/>
        </p:nvSpPr>
        <p:spPr>
          <a:xfrm>
            <a:off x="502920" y="4901184"/>
            <a:ext cx="11185855" cy="1170432"/>
          </a:xfrm>
          <a:prstGeom prst="roundRect">
            <a:avLst>
              <a:gd name="adj" fmla="val 6250"/>
            </a:avLst>
          </a:prstGeom>
          <a:solidFill>
            <a:srgbClr val="E8F3F3"/>
          </a:solidFill>
          <a:ln w="9525">
            <a:solidFill>
              <a:srgbClr val="BFDCDD"/>
            </a:solidFill>
            <a:prstDash val="solid"/>
          </a:ln>
        </p:spPr>
      </p:sp>
      <p:sp>
        <p:nvSpPr>
          <p:cNvPr id="29" name="Text 27"/>
          <p:cNvSpPr/>
          <p:nvPr/>
        </p:nvSpPr>
        <p:spPr>
          <a:xfrm>
            <a:off x="813816" y="5084064"/>
            <a:ext cx="2743200" cy="237744"/>
          </a:xfrm>
          <a:prstGeom prst="rect">
            <a:avLst/>
          </a:prstGeom>
          <a:noFill/>
          <a:ln/>
        </p:spPr>
        <p:txBody>
          <a:bodyPr wrap="square" lIns="0" tIns="0" rIns="0" bIns="0" rtlCol="0" anchor="ctr"/>
          <a:lstStyle/>
          <a:p>
            <a:pPr indent="0" marL="0">
              <a:buNone/>
            </a:pPr>
            <a:r>
              <a:rPr lang="en-US" sz="950" b="1" spc="140" kern="0" dirty="0">
                <a:solidFill>
                  <a:srgbClr val="0E7C86"/>
                </a:solidFill>
                <a:latin typeface="Calibri" pitchFamily="34" charset="0"/>
                <a:ea typeface="Calibri" pitchFamily="34" charset="-122"/>
                <a:cs typeface="Calibri" pitchFamily="34" charset="-120"/>
              </a:rPr>
              <a:t>RECOMMENDATION</a:t>
            </a:r>
            <a:endParaRPr lang="en-US" sz="950" dirty="0"/>
          </a:p>
        </p:txBody>
      </p:sp>
      <p:sp>
        <p:nvSpPr>
          <p:cNvPr id="30" name="Text 28"/>
          <p:cNvSpPr/>
          <p:nvPr/>
        </p:nvSpPr>
        <p:spPr>
          <a:xfrm>
            <a:off x="813816" y="5340096"/>
            <a:ext cx="10564063" cy="566928"/>
          </a:xfrm>
          <a:prstGeom prst="rect">
            <a:avLst/>
          </a:prstGeom>
          <a:noFill/>
          <a:ln/>
        </p:spPr>
        <p:txBody>
          <a:bodyPr wrap="square" lIns="0" tIns="0" rIns="0" bIns="0" rtlCol="0" anchor="ctr"/>
          <a:lstStyle/>
          <a:p>
            <a:pPr indent="0" marL="0">
              <a:lnSpc>
                <a:spcPts val="1800"/>
              </a:lnSpc>
              <a:buNone/>
            </a:pPr>
            <a:r>
              <a:rPr lang="en-US" sz="1300" dirty="0">
                <a:solidFill>
                  <a:srgbClr val="16233F"/>
                </a:solidFill>
                <a:latin typeface="Calibri" pitchFamily="34" charset="0"/>
                <a:ea typeface="Calibri" pitchFamily="34" charset="-122"/>
                <a:cs typeface="Calibri" pitchFamily="34" charset="-120"/>
              </a:rPr>
              <a:t>Start the KB / RAG implementation now as an independent core platform capability, and let the other STLC modules integrate with it phase by phase.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730"/>
        </a:solidFill>
      </p:bgPr>
    </p:bg>
    <p:spTree>
      <p:nvGrpSpPr>
        <p:cNvPr id="1" name=""/>
        <p:cNvGrpSpPr/>
        <p:nvPr/>
      </p:nvGrpSpPr>
      <p:grpSpPr>
        <a:xfrm>
          <a:off x="0" y="0"/>
          <a:ext cx="0" cy="0"/>
          <a:chOff x="0" y="0"/>
          <a:chExt cx="0" cy="0"/>
        </a:xfrm>
      </p:grpSpPr>
      <p:sp>
        <p:nvSpPr>
          <p:cNvPr id="2" name="Text 0"/>
          <p:cNvSpPr/>
          <p:nvPr/>
        </p:nvSpPr>
        <p:spPr>
          <a:xfrm>
            <a:off x="502920" y="329184"/>
            <a:ext cx="11185855" cy="237744"/>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ADOPTION &amp; ENABLEMENT</a:t>
            </a:r>
            <a:endParaRPr lang="en-US" sz="1100" dirty="0"/>
          </a:p>
        </p:txBody>
      </p:sp>
      <p:sp>
        <p:nvSpPr>
          <p:cNvPr id="3" name="Text 1"/>
          <p:cNvSpPr/>
          <p:nvPr/>
        </p:nvSpPr>
        <p:spPr>
          <a:xfrm>
            <a:off x="502920" y="585216"/>
            <a:ext cx="11185855"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Training Centre</a:t>
            </a:r>
            <a:endParaRPr lang="en-US" sz="3200" dirty="0"/>
          </a:p>
        </p:txBody>
      </p:sp>
      <p:sp>
        <p:nvSpPr>
          <p:cNvPr id="4" name="Text 2"/>
          <p:cNvSpPr/>
          <p:nvPr/>
        </p:nvSpPr>
        <p:spPr>
          <a:xfrm>
            <a:off x="502920" y="1188720"/>
            <a:ext cx="8229600" cy="384048"/>
          </a:xfrm>
          <a:prstGeom prst="rect">
            <a:avLst/>
          </a:prstGeom>
          <a:noFill/>
          <a:ln/>
        </p:spPr>
        <p:txBody>
          <a:bodyPr wrap="square" lIns="0" tIns="0" rIns="0" bIns="0" rtlCol="0" anchor="ctr"/>
          <a:lstStyle/>
          <a:p>
            <a:pPr indent="0" marL="0">
              <a:buNone/>
            </a:pPr>
            <a:r>
              <a:rPr lang="en-US" sz="1400" dirty="0">
                <a:solidFill>
                  <a:srgbClr val="A8B6D1"/>
                </a:solidFill>
                <a:latin typeface="Calibri" pitchFamily="34" charset="0"/>
                <a:ea typeface="Calibri" pitchFamily="34" charset="-122"/>
                <a:cs typeface="Calibri" pitchFamily="34" charset="-120"/>
              </a:rPr>
              <a:t>Build skilled, self-sufficient teams for faster STLC Platform adoption.</a:t>
            </a:r>
            <a:endParaRPr lang="en-US" sz="1400" dirty="0"/>
          </a:p>
        </p:txBody>
      </p:sp>
      <p:sp>
        <p:nvSpPr>
          <p:cNvPr id="5" name="Shape 3"/>
          <p:cNvSpPr/>
          <p:nvPr/>
        </p:nvSpPr>
        <p:spPr>
          <a:xfrm>
            <a:off x="502920" y="1773936"/>
            <a:ext cx="5532120" cy="3200400"/>
          </a:xfrm>
          <a:prstGeom prst="roundRect">
            <a:avLst>
              <a:gd name="adj" fmla="val 2286"/>
            </a:avLst>
          </a:prstGeom>
          <a:solidFill>
            <a:srgbClr val="1B2A4E"/>
          </a:solidFill>
          <a:ln/>
        </p:spPr>
      </p:sp>
      <p:sp>
        <p:nvSpPr>
          <p:cNvPr id="6" name="Text 4"/>
          <p:cNvSpPr/>
          <p:nvPr/>
        </p:nvSpPr>
        <p:spPr>
          <a:xfrm>
            <a:off x="777240" y="1975104"/>
            <a:ext cx="4937760" cy="237744"/>
          </a:xfrm>
          <a:prstGeom prst="rect">
            <a:avLst/>
          </a:prstGeom>
          <a:noFill/>
          <a:ln/>
        </p:spPr>
        <p:txBody>
          <a:bodyPr wrap="square" lIns="0" tIns="0" rIns="0" bIns="0" rtlCol="0" anchor="ctr"/>
          <a:lstStyle/>
          <a:p>
            <a:pPr indent="0" marL="0">
              <a:buNone/>
            </a:pPr>
            <a:r>
              <a:rPr lang="en-US" sz="950" b="1" spc="140" kern="0" dirty="0">
                <a:solidFill>
                  <a:srgbClr val="02C39A"/>
                </a:solidFill>
                <a:latin typeface="Calibri" pitchFamily="34" charset="0"/>
                <a:ea typeface="Calibri" pitchFamily="34" charset="-122"/>
                <a:cs typeface="Calibri" pitchFamily="34" charset="-120"/>
              </a:rPr>
              <a:t>TRAINING FOCUS</a:t>
            </a:r>
            <a:endParaRPr lang="en-US" sz="950" dirty="0"/>
          </a:p>
        </p:txBody>
      </p:sp>
      <p:sp>
        <p:nvSpPr>
          <p:cNvPr id="7" name="Shape 5"/>
          <p:cNvSpPr/>
          <p:nvPr/>
        </p:nvSpPr>
        <p:spPr>
          <a:xfrm>
            <a:off x="777240" y="2404872"/>
            <a:ext cx="274320" cy="274320"/>
          </a:xfrm>
          <a:prstGeom prst="ellipse">
            <a:avLst/>
          </a:prstGeom>
          <a:solidFill>
            <a:srgbClr val="223257"/>
          </a:solidFill>
          <a:ln/>
        </p:spPr>
      </p:sp>
      <p:sp>
        <p:nvSpPr>
          <p:cNvPr id="8" name="Text 6"/>
          <p:cNvSpPr/>
          <p:nvPr/>
        </p:nvSpPr>
        <p:spPr>
          <a:xfrm>
            <a:off x="777240" y="2404872"/>
            <a:ext cx="274320" cy="274320"/>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1</a:t>
            </a:r>
            <a:endParaRPr lang="en-US" sz="950" dirty="0"/>
          </a:p>
        </p:txBody>
      </p:sp>
      <p:sp>
        <p:nvSpPr>
          <p:cNvPr id="9" name="Text 7"/>
          <p:cNvSpPr/>
          <p:nvPr/>
        </p:nvSpPr>
        <p:spPr>
          <a:xfrm>
            <a:off x="1179576" y="2359152"/>
            <a:ext cx="4572000" cy="365760"/>
          </a:xfrm>
          <a:prstGeom prst="rect">
            <a:avLst/>
          </a:prstGeom>
          <a:noFill/>
          <a:ln/>
        </p:spPr>
        <p:txBody>
          <a:bodyPr wrap="square" lIns="0" tIns="0" rIns="0" bIns="0" rtlCol="0" anchor="ctr"/>
          <a:lstStyle/>
          <a:p>
            <a:pPr indent="0" marL="0">
              <a:buNone/>
            </a:pPr>
            <a:r>
              <a:rPr lang="en-US" sz="1200" dirty="0">
                <a:solidFill>
                  <a:srgbClr val="E4EBF7"/>
                </a:solidFill>
                <a:latin typeface="Calibri" pitchFamily="34" charset="0"/>
                <a:ea typeface="Calibri" pitchFamily="34" charset="-122"/>
                <a:cs typeface="Calibri" pitchFamily="34" charset="-120"/>
              </a:rPr>
              <a:t>Requirements and test case management</a:t>
            </a:r>
            <a:endParaRPr lang="en-US" sz="1200" dirty="0"/>
          </a:p>
        </p:txBody>
      </p:sp>
      <p:sp>
        <p:nvSpPr>
          <p:cNvPr id="10" name="Shape 8"/>
          <p:cNvSpPr/>
          <p:nvPr/>
        </p:nvSpPr>
        <p:spPr>
          <a:xfrm>
            <a:off x="777240" y="2907792"/>
            <a:ext cx="274320" cy="274320"/>
          </a:xfrm>
          <a:prstGeom prst="ellipse">
            <a:avLst/>
          </a:prstGeom>
          <a:solidFill>
            <a:srgbClr val="223257"/>
          </a:solidFill>
          <a:ln/>
        </p:spPr>
      </p:sp>
      <p:sp>
        <p:nvSpPr>
          <p:cNvPr id="11" name="Text 9"/>
          <p:cNvSpPr/>
          <p:nvPr/>
        </p:nvSpPr>
        <p:spPr>
          <a:xfrm>
            <a:off x="777240" y="2907792"/>
            <a:ext cx="274320" cy="274320"/>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2</a:t>
            </a:r>
            <a:endParaRPr lang="en-US" sz="950" dirty="0"/>
          </a:p>
        </p:txBody>
      </p:sp>
      <p:sp>
        <p:nvSpPr>
          <p:cNvPr id="12" name="Text 10"/>
          <p:cNvSpPr/>
          <p:nvPr/>
        </p:nvSpPr>
        <p:spPr>
          <a:xfrm>
            <a:off x="1179576" y="2862072"/>
            <a:ext cx="4572000" cy="365760"/>
          </a:xfrm>
          <a:prstGeom prst="rect">
            <a:avLst/>
          </a:prstGeom>
          <a:noFill/>
          <a:ln/>
        </p:spPr>
        <p:txBody>
          <a:bodyPr wrap="square" lIns="0" tIns="0" rIns="0" bIns="0" rtlCol="0" anchor="ctr"/>
          <a:lstStyle/>
          <a:p>
            <a:pPr indent="0" marL="0">
              <a:buNone/>
            </a:pPr>
            <a:r>
              <a:rPr lang="en-US" sz="1200" dirty="0">
                <a:solidFill>
                  <a:srgbClr val="E4EBF7"/>
                </a:solidFill>
                <a:latin typeface="Calibri" pitchFamily="34" charset="0"/>
                <a:ea typeface="Calibri" pitchFamily="34" charset="-122"/>
                <a:cs typeface="Calibri" pitchFamily="34" charset="-120"/>
              </a:rPr>
              <a:t>Automation Studio and script generation</a:t>
            </a:r>
            <a:endParaRPr lang="en-US" sz="1200" dirty="0"/>
          </a:p>
        </p:txBody>
      </p:sp>
      <p:sp>
        <p:nvSpPr>
          <p:cNvPr id="13" name="Shape 11"/>
          <p:cNvSpPr/>
          <p:nvPr/>
        </p:nvSpPr>
        <p:spPr>
          <a:xfrm>
            <a:off x="777240" y="3410712"/>
            <a:ext cx="274320" cy="274320"/>
          </a:xfrm>
          <a:prstGeom prst="ellipse">
            <a:avLst/>
          </a:prstGeom>
          <a:solidFill>
            <a:srgbClr val="223257"/>
          </a:solidFill>
          <a:ln/>
        </p:spPr>
      </p:sp>
      <p:sp>
        <p:nvSpPr>
          <p:cNvPr id="14" name="Text 12"/>
          <p:cNvSpPr/>
          <p:nvPr/>
        </p:nvSpPr>
        <p:spPr>
          <a:xfrm>
            <a:off x="777240" y="3410712"/>
            <a:ext cx="274320" cy="274320"/>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3</a:t>
            </a:r>
            <a:endParaRPr lang="en-US" sz="950" dirty="0"/>
          </a:p>
        </p:txBody>
      </p:sp>
      <p:sp>
        <p:nvSpPr>
          <p:cNvPr id="15" name="Text 13"/>
          <p:cNvSpPr/>
          <p:nvPr/>
        </p:nvSpPr>
        <p:spPr>
          <a:xfrm>
            <a:off x="1179576" y="3364992"/>
            <a:ext cx="4572000" cy="365760"/>
          </a:xfrm>
          <a:prstGeom prst="rect">
            <a:avLst/>
          </a:prstGeom>
          <a:noFill/>
          <a:ln/>
        </p:spPr>
        <p:txBody>
          <a:bodyPr wrap="square" lIns="0" tIns="0" rIns="0" bIns="0" rtlCol="0" anchor="ctr"/>
          <a:lstStyle/>
          <a:p>
            <a:pPr indent="0" marL="0">
              <a:buNone/>
            </a:pPr>
            <a:r>
              <a:rPr lang="en-US" sz="1200" dirty="0">
                <a:solidFill>
                  <a:srgbClr val="E4EBF7"/>
                </a:solidFill>
                <a:latin typeface="Calibri" pitchFamily="34" charset="0"/>
                <a:ea typeface="Calibri" pitchFamily="34" charset="-122"/>
                <a:cs typeface="Calibri" pitchFamily="34" charset="-120"/>
              </a:rPr>
              <a:t>Regression execution and reporting</a:t>
            </a:r>
            <a:endParaRPr lang="en-US" sz="1200" dirty="0"/>
          </a:p>
        </p:txBody>
      </p:sp>
      <p:sp>
        <p:nvSpPr>
          <p:cNvPr id="16" name="Shape 14"/>
          <p:cNvSpPr/>
          <p:nvPr/>
        </p:nvSpPr>
        <p:spPr>
          <a:xfrm>
            <a:off x="777240" y="3913632"/>
            <a:ext cx="274320" cy="274320"/>
          </a:xfrm>
          <a:prstGeom prst="ellipse">
            <a:avLst/>
          </a:prstGeom>
          <a:solidFill>
            <a:srgbClr val="223257"/>
          </a:solidFill>
          <a:ln/>
        </p:spPr>
      </p:sp>
      <p:sp>
        <p:nvSpPr>
          <p:cNvPr id="17" name="Text 15"/>
          <p:cNvSpPr/>
          <p:nvPr/>
        </p:nvSpPr>
        <p:spPr>
          <a:xfrm>
            <a:off x="777240" y="3913632"/>
            <a:ext cx="274320" cy="274320"/>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4</a:t>
            </a:r>
            <a:endParaRPr lang="en-US" sz="950" dirty="0"/>
          </a:p>
        </p:txBody>
      </p:sp>
      <p:sp>
        <p:nvSpPr>
          <p:cNvPr id="18" name="Text 16"/>
          <p:cNvSpPr/>
          <p:nvPr/>
        </p:nvSpPr>
        <p:spPr>
          <a:xfrm>
            <a:off x="1179576" y="3867912"/>
            <a:ext cx="4572000" cy="365760"/>
          </a:xfrm>
          <a:prstGeom prst="rect">
            <a:avLst/>
          </a:prstGeom>
          <a:noFill/>
          <a:ln/>
        </p:spPr>
        <p:txBody>
          <a:bodyPr wrap="square" lIns="0" tIns="0" rIns="0" bIns="0" rtlCol="0" anchor="ctr"/>
          <a:lstStyle/>
          <a:p>
            <a:pPr indent="0" marL="0">
              <a:buNone/>
            </a:pPr>
            <a:r>
              <a:rPr lang="en-US" sz="1200" dirty="0">
                <a:solidFill>
                  <a:srgbClr val="E4EBF7"/>
                </a:solidFill>
                <a:latin typeface="Calibri" pitchFamily="34" charset="0"/>
                <a:ea typeface="Calibri" pitchFamily="34" charset="-122"/>
                <a:cs typeface="Calibri" pitchFamily="34" charset="-120"/>
              </a:rPr>
              <a:t>Knowledge Base and RAG</a:t>
            </a:r>
            <a:endParaRPr lang="en-US" sz="1200" dirty="0"/>
          </a:p>
        </p:txBody>
      </p:sp>
      <p:sp>
        <p:nvSpPr>
          <p:cNvPr id="19" name="Shape 17"/>
          <p:cNvSpPr/>
          <p:nvPr/>
        </p:nvSpPr>
        <p:spPr>
          <a:xfrm>
            <a:off x="777240" y="4416552"/>
            <a:ext cx="274320" cy="274320"/>
          </a:xfrm>
          <a:prstGeom prst="ellipse">
            <a:avLst/>
          </a:prstGeom>
          <a:solidFill>
            <a:srgbClr val="223257"/>
          </a:solidFill>
          <a:ln/>
        </p:spPr>
      </p:sp>
      <p:sp>
        <p:nvSpPr>
          <p:cNvPr id="20" name="Text 18"/>
          <p:cNvSpPr/>
          <p:nvPr/>
        </p:nvSpPr>
        <p:spPr>
          <a:xfrm>
            <a:off x="777240" y="4416552"/>
            <a:ext cx="274320" cy="274320"/>
          </a:xfrm>
          <a:prstGeom prst="rect">
            <a:avLst/>
          </a:prstGeom>
          <a:noFill/>
          <a:ln/>
        </p:spPr>
        <p:txBody>
          <a:bodyPr wrap="square" lIns="0" tIns="0" rIns="0" bIns="0"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5</a:t>
            </a:r>
            <a:endParaRPr lang="en-US" sz="950" dirty="0"/>
          </a:p>
        </p:txBody>
      </p:sp>
      <p:sp>
        <p:nvSpPr>
          <p:cNvPr id="21" name="Text 19"/>
          <p:cNvSpPr/>
          <p:nvPr/>
        </p:nvSpPr>
        <p:spPr>
          <a:xfrm>
            <a:off x="1179576" y="4370832"/>
            <a:ext cx="4572000" cy="365760"/>
          </a:xfrm>
          <a:prstGeom prst="rect">
            <a:avLst/>
          </a:prstGeom>
          <a:noFill/>
          <a:ln/>
        </p:spPr>
        <p:txBody>
          <a:bodyPr wrap="square" lIns="0" tIns="0" rIns="0" bIns="0" rtlCol="0" anchor="ctr"/>
          <a:lstStyle/>
          <a:p>
            <a:pPr indent="0" marL="0">
              <a:buNone/>
            </a:pPr>
            <a:r>
              <a:rPr lang="en-US" sz="1200" dirty="0">
                <a:solidFill>
                  <a:srgbClr val="E4EBF7"/>
                </a:solidFill>
                <a:latin typeface="Calibri" pitchFamily="34" charset="0"/>
                <a:ea typeface="Calibri" pitchFamily="34" charset="-122"/>
                <a:cs typeface="Calibri" pitchFamily="34" charset="-120"/>
              </a:rPr>
              <a:t>Platform governance and administration</a:t>
            </a:r>
            <a:endParaRPr lang="en-US" sz="1200" dirty="0"/>
          </a:p>
        </p:txBody>
      </p:sp>
      <p:sp>
        <p:nvSpPr>
          <p:cNvPr id="22" name="Shape 20"/>
          <p:cNvSpPr/>
          <p:nvPr/>
        </p:nvSpPr>
        <p:spPr>
          <a:xfrm>
            <a:off x="6309360" y="1773936"/>
            <a:ext cx="5376672" cy="3200400"/>
          </a:xfrm>
          <a:prstGeom prst="roundRect">
            <a:avLst>
              <a:gd name="adj" fmla="val 2286"/>
            </a:avLst>
          </a:prstGeom>
          <a:solidFill>
            <a:srgbClr val="1B2A4E"/>
          </a:solidFill>
          <a:ln/>
        </p:spPr>
      </p:sp>
      <p:sp>
        <p:nvSpPr>
          <p:cNvPr id="23" name="Text 21"/>
          <p:cNvSpPr/>
          <p:nvPr/>
        </p:nvSpPr>
        <p:spPr>
          <a:xfrm>
            <a:off x="6583680" y="1975104"/>
            <a:ext cx="4846320" cy="237744"/>
          </a:xfrm>
          <a:prstGeom prst="rect">
            <a:avLst/>
          </a:prstGeom>
          <a:noFill/>
          <a:ln/>
        </p:spPr>
        <p:txBody>
          <a:bodyPr wrap="square" lIns="0" tIns="0" rIns="0" bIns="0" rtlCol="0" anchor="ctr"/>
          <a:lstStyle/>
          <a:p>
            <a:pPr indent="0" marL="0">
              <a:buNone/>
            </a:pPr>
            <a:r>
              <a:rPr lang="en-US" sz="950" b="1" spc="140" kern="0" dirty="0">
                <a:solidFill>
                  <a:srgbClr val="02C39A"/>
                </a:solidFill>
                <a:latin typeface="Calibri" pitchFamily="34" charset="0"/>
                <a:ea typeface="Calibri" pitchFamily="34" charset="-122"/>
                <a:cs typeface="Calibri" pitchFamily="34" charset="-120"/>
              </a:rPr>
              <a:t>DELIVERY MODEL</a:t>
            </a:r>
            <a:endParaRPr lang="en-US" sz="950" dirty="0"/>
          </a:p>
        </p:txBody>
      </p:sp>
      <p:sp>
        <p:nvSpPr>
          <p:cNvPr id="24" name="Shape 22"/>
          <p:cNvSpPr/>
          <p:nvPr/>
        </p:nvSpPr>
        <p:spPr>
          <a:xfrm>
            <a:off x="6583680" y="2377440"/>
            <a:ext cx="2377440" cy="1060704"/>
          </a:xfrm>
          <a:prstGeom prst="roundRect">
            <a:avLst>
              <a:gd name="adj" fmla="val 6034"/>
            </a:avLst>
          </a:prstGeom>
          <a:solidFill>
            <a:srgbClr val="223257"/>
          </a:solidFill>
          <a:ln/>
        </p:spPr>
      </p:sp>
      <p:sp>
        <p:nvSpPr>
          <p:cNvPr id="25" name="Text 23"/>
          <p:cNvSpPr/>
          <p:nvPr/>
        </p:nvSpPr>
        <p:spPr>
          <a:xfrm>
            <a:off x="6766560" y="2523744"/>
            <a:ext cx="2011680" cy="45720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mbria" pitchFamily="34" charset="0"/>
                <a:ea typeface="Cambria" pitchFamily="34" charset="-122"/>
                <a:cs typeface="Cambria" pitchFamily="34" charset="-120"/>
              </a:rPr>
              <a:t>Role-based training</a:t>
            </a:r>
            <a:endParaRPr lang="en-US" sz="1250" dirty="0"/>
          </a:p>
        </p:txBody>
      </p:sp>
      <p:sp>
        <p:nvSpPr>
          <p:cNvPr id="26" name="Text 24"/>
          <p:cNvSpPr/>
          <p:nvPr/>
        </p:nvSpPr>
        <p:spPr>
          <a:xfrm>
            <a:off x="6766560" y="2980944"/>
            <a:ext cx="2011680" cy="384048"/>
          </a:xfrm>
          <a:prstGeom prst="rect">
            <a:avLst/>
          </a:prstGeom>
          <a:noFill/>
          <a:ln/>
        </p:spPr>
        <p:txBody>
          <a:bodyPr wrap="square" lIns="0" tIns="0" rIns="0" bIns="0" rtlCol="0" anchor="ctr"/>
          <a:lstStyle/>
          <a:p>
            <a:pPr indent="0" marL="0">
              <a:lnSpc>
                <a:spcPts val="1200"/>
              </a:lnSpc>
              <a:buNone/>
            </a:pPr>
            <a:r>
              <a:rPr lang="en-US" sz="950" dirty="0">
                <a:solidFill>
                  <a:srgbClr val="A8B6D1"/>
                </a:solidFill>
                <a:latin typeface="Calibri" pitchFamily="34" charset="0"/>
                <a:ea typeface="Calibri" pitchFamily="34" charset="-122"/>
                <a:cs typeface="Calibri" pitchFamily="34" charset="-120"/>
              </a:rPr>
              <a:t>Curricula per QA role and seniority</a:t>
            </a:r>
            <a:endParaRPr lang="en-US" sz="950" dirty="0"/>
          </a:p>
        </p:txBody>
      </p:sp>
      <p:sp>
        <p:nvSpPr>
          <p:cNvPr id="27" name="Shape 25"/>
          <p:cNvSpPr/>
          <p:nvPr/>
        </p:nvSpPr>
        <p:spPr>
          <a:xfrm>
            <a:off x="9125712" y="2377440"/>
            <a:ext cx="2377440" cy="1060704"/>
          </a:xfrm>
          <a:prstGeom prst="roundRect">
            <a:avLst>
              <a:gd name="adj" fmla="val 6034"/>
            </a:avLst>
          </a:prstGeom>
          <a:solidFill>
            <a:srgbClr val="223257"/>
          </a:solidFill>
          <a:ln/>
        </p:spPr>
      </p:sp>
      <p:sp>
        <p:nvSpPr>
          <p:cNvPr id="28" name="Text 26"/>
          <p:cNvSpPr/>
          <p:nvPr/>
        </p:nvSpPr>
        <p:spPr>
          <a:xfrm>
            <a:off x="9308592" y="2523744"/>
            <a:ext cx="2011680" cy="45720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mbria" pitchFamily="34" charset="0"/>
                <a:ea typeface="Cambria" pitchFamily="34" charset="-122"/>
                <a:cs typeface="Cambria" pitchFamily="34" charset="-120"/>
              </a:rPr>
              <a:t>Hands-on telecom use cases</a:t>
            </a:r>
            <a:endParaRPr lang="en-US" sz="1250" dirty="0"/>
          </a:p>
        </p:txBody>
      </p:sp>
      <p:sp>
        <p:nvSpPr>
          <p:cNvPr id="29" name="Text 27"/>
          <p:cNvSpPr/>
          <p:nvPr/>
        </p:nvSpPr>
        <p:spPr>
          <a:xfrm>
            <a:off x="9308592" y="2980944"/>
            <a:ext cx="2011680" cy="384048"/>
          </a:xfrm>
          <a:prstGeom prst="rect">
            <a:avLst/>
          </a:prstGeom>
          <a:noFill/>
          <a:ln/>
        </p:spPr>
        <p:txBody>
          <a:bodyPr wrap="square" lIns="0" tIns="0" rIns="0" bIns="0" rtlCol="0" anchor="ctr"/>
          <a:lstStyle/>
          <a:p>
            <a:pPr indent="0" marL="0">
              <a:lnSpc>
                <a:spcPts val="1200"/>
              </a:lnSpc>
              <a:buNone/>
            </a:pPr>
            <a:r>
              <a:rPr lang="en-US" sz="950" dirty="0">
                <a:solidFill>
                  <a:srgbClr val="A8B6D1"/>
                </a:solidFill>
                <a:latin typeface="Calibri" pitchFamily="34" charset="0"/>
                <a:ea typeface="Calibri" pitchFamily="34" charset="-122"/>
                <a:cs typeface="Calibri" pitchFamily="34" charset="-120"/>
              </a:rPr>
              <a:t>Real order and billing journeys</a:t>
            </a:r>
            <a:endParaRPr lang="en-US" sz="950" dirty="0"/>
          </a:p>
        </p:txBody>
      </p:sp>
      <p:sp>
        <p:nvSpPr>
          <p:cNvPr id="30" name="Shape 28"/>
          <p:cNvSpPr/>
          <p:nvPr/>
        </p:nvSpPr>
        <p:spPr>
          <a:xfrm>
            <a:off x="6583680" y="3584448"/>
            <a:ext cx="2377440" cy="1060704"/>
          </a:xfrm>
          <a:prstGeom prst="roundRect">
            <a:avLst>
              <a:gd name="adj" fmla="val 6034"/>
            </a:avLst>
          </a:prstGeom>
          <a:solidFill>
            <a:srgbClr val="223257"/>
          </a:solidFill>
          <a:ln/>
        </p:spPr>
      </p:sp>
      <p:sp>
        <p:nvSpPr>
          <p:cNvPr id="31" name="Text 29"/>
          <p:cNvSpPr/>
          <p:nvPr/>
        </p:nvSpPr>
        <p:spPr>
          <a:xfrm>
            <a:off x="6766560" y="3730752"/>
            <a:ext cx="2011680" cy="45720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mbria" pitchFamily="34" charset="0"/>
                <a:ea typeface="Cambria" pitchFamily="34" charset="-122"/>
                <a:cs typeface="Cambria" pitchFamily="34" charset="-120"/>
              </a:rPr>
              <a:t>Sandbox practice</a:t>
            </a:r>
            <a:endParaRPr lang="en-US" sz="1250" dirty="0"/>
          </a:p>
        </p:txBody>
      </p:sp>
      <p:sp>
        <p:nvSpPr>
          <p:cNvPr id="32" name="Text 30"/>
          <p:cNvSpPr/>
          <p:nvPr/>
        </p:nvSpPr>
        <p:spPr>
          <a:xfrm>
            <a:off x="6766560" y="4187952"/>
            <a:ext cx="2011680" cy="384048"/>
          </a:xfrm>
          <a:prstGeom prst="rect">
            <a:avLst/>
          </a:prstGeom>
          <a:noFill/>
          <a:ln/>
        </p:spPr>
        <p:txBody>
          <a:bodyPr wrap="square" lIns="0" tIns="0" rIns="0" bIns="0" rtlCol="0" anchor="ctr"/>
          <a:lstStyle/>
          <a:p>
            <a:pPr indent="0" marL="0">
              <a:lnSpc>
                <a:spcPts val="1200"/>
              </a:lnSpc>
              <a:buNone/>
            </a:pPr>
            <a:r>
              <a:rPr lang="en-US" sz="950" dirty="0">
                <a:solidFill>
                  <a:srgbClr val="A8B6D1"/>
                </a:solidFill>
                <a:latin typeface="Calibri" pitchFamily="34" charset="0"/>
                <a:ea typeface="Calibri" pitchFamily="34" charset="-122"/>
                <a:cs typeface="Calibri" pitchFamily="34" charset="-120"/>
              </a:rPr>
              <a:t>Safe environment, no production impact</a:t>
            </a:r>
            <a:endParaRPr lang="en-US" sz="950" dirty="0"/>
          </a:p>
        </p:txBody>
      </p:sp>
      <p:sp>
        <p:nvSpPr>
          <p:cNvPr id="33" name="Shape 31"/>
          <p:cNvSpPr/>
          <p:nvPr/>
        </p:nvSpPr>
        <p:spPr>
          <a:xfrm>
            <a:off x="9125712" y="3584448"/>
            <a:ext cx="2377440" cy="1060704"/>
          </a:xfrm>
          <a:prstGeom prst="roundRect">
            <a:avLst>
              <a:gd name="adj" fmla="val 6034"/>
            </a:avLst>
          </a:prstGeom>
          <a:solidFill>
            <a:srgbClr val="223257"/>
          </a:solidFill>
          <a:ln/>
        </p:spPr>
      </p:sp>
      <p:sp>
        <p:nvSpPr>
          <p:cNvPr id="34" name="Text 32"/>
          <p:cNvSpPr/>
          <p:nvPr/>
        </p:nvSpPr>
        <p:spPr>
          <a:xfrm>
            <a:off x="9308592" y="3730752"/>
            <a:ext cx="2011680" cy="45720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mbria" pitchFamily="34" charset="0"/>
                <a:ea typeface="Cambria" pitchFamily="34" charset="-122"/>
                <a:cs typeface="Cambria" pitchFamily="34" charset="-120"/>
              </a:rPr>
              <a:t>Certification &amp; champions</a:t>
            </a:r>
            <a:endParaRPr lang="en-US" sz="1250" dirty="0"/>
          </a:p>
        </p:txBody>
      </p:sp>
      <p:sp>
        <p:nvSpPr>
          <p:cNvPr id="35" name="Text 33"/>
          <p:cNvSpPr/>
          <p:nvPr/>
        </p:nvSpPr>
        <p:spPr>
          <a:xfrm>
            <a:off x="9308592" y="4187952"/>
            <a:ext cx="2011680" cy="384048"/>
          </a:xfrm>
          <a:prstGeom prst="rect">
            <a:avLst/>
          </a:prstGeom>
          <a:noFill/>
          <a:ln/>
        </p:spPr>
        <p:txBody>
          <a:bodyPr wrap="square" lIns="0" tIns="0" rIns="0" bIns="0" rtlCol="0" anchor="ctr"/>
          <a:lstStyle/>
          <a:p>
            <a:pPr indent="0" marL="0">
              <a:lnSpc>
                <a:spcPts val="1200"/>
              </a:lnSpc>
              <a:buNone/>
            </a:pPr>
            <a:r>
              <a:rPr lang="en-US" sz="950" dirty="0">
                <a:solidFill>
                  <a:srgbClr val="A8B6D1"/>
                </a:solidFill>
                <a:latin typeface="Calibri" pitchFamily="34" charset="0"/>
                <a:ea typeface="Calibri" pitchFamily="34" charset="-122"/>
                <a:cs typeface="Calibri" pitchFamily="34" charset="-120"/>
              </a:rPr>
              <a:t>Certified users who coach their teams</a:t>
            </a:r>
            <a:endParaRPr lang="en-US" sz="950" dirty="0"/>
          </a:p>
        </p:txBody>
      </p:sp>
      <p:sp>
        <p:nvSpPr>
          <p:cNvPr id="36" name="Shape 34"/>
          <p:cNvSpPr/>
          <p:nvPr/>
        </p:nvSpPr>
        <p:spPr>
          <a:xfrm>
            <a:off x="502920" y="5175504"/>
            <a:ext cx="11185855" cy="969264"/>
          </a:xfrm>
          <a:prstGeom prst="roundRect">
            <a:avLst>
              <a:gd name="adj" fmla="val 7547"/>
            </a:avLst>
          </a:prstGeom>
          <a:solidFill>
            <a:srgbClr val="223257"/>
          </a:solidFill>
          <a:ln/>
        </p:spPr>
      </p:sp>
      <p:sp>
        <p:nvSpPr>
          <p:cNvPr id="37" name="Text 35"/>
          <p:cNvSpPr/>
          <p:nvPr/>
        </p:nvSpPr>
        <p:spPr>
          <a:xfrm>
            <a:off x="813816" y="5340096"/>
            <a:ext cx="2743200" cy="219456"/>
          </a:xfrm>
          <a:prstGeom prst="rect">
            <a:avLst/>
          </a:prstGeom>
          <a:noFill/>
          <a:ln/>
        </p:spPr>
        <p:txBody>
          <a:bodyPr wrap="square" lIns="0" tIns="0" rIns="0" bIns="0" rtlCol="0" anchor="ctr"/>
          <a:lstStyle/>
          <a:p>
            <a:pPr indent="0" marL="0">
              <a:buNone/>
            </a:pPr>
            <a:r>
              <a:rPr lang="en-US" sz="950" b="1" spc="140" kern="0" dirty="0">
                <a:solidFill>
                  <a:srgbClr val="02C39A"/>
                </a:solidFill>
                <a:latin typeface="Calibri" pitchFamily="34" charset="0"/>
                <a:ea typeface="Calibri" pitchFamily="34" charset="-122"/>
                <a:cs typeface="Calibri" pitchFamily="34" charset="-120"/>
              </a:rPr>
              <a:t>BUSINESS OUTCOME</a:t>
            </a:r>
            <a:endParaRPr lang="en-US" sz="950" dirty="0"/>
          </a:p>
        </p:txBody>
      </p:sp>
      <p:sp>
        <p:nvSpPr>
          <p:cNvPr id="38" name="Text 36"/>
          <p:cNvSpPr/>
          <p:nvPr/>
        </p:nvSpPr>
        <p:spPr>
          <a:xfrm>
            <a:off x="813816" y="5559552"/>
            <a:ext cx="10564063" cy="402336"/>
          </a:xfrm>
          <a:prstGeom prst="rect">
            <a:avLst/>
          </a:prstGeom>
          <a:noFill/>
          <a:ln/>
        </p:spPr>
        <p:txBody>
          <a:bodyPr wrap="square" lIns="0" tIns="0" rIns="0" bIns="0" rtlCol="0" anchor="ctr"/>
          <a:lstStyle/>
          <a:p>
            <a:pPr indent="0" marL="0">
              <a:buNone/>
            </a:pPr>
            <a:r>
              <a:rPr lang="en-US" sz="1300" dirty="0">
                <a:solidFill>
                  <a:srgbClr val="E4EBF7"/>
                </a:solidFill>
                <a:latin typeface="Calibri" pitchFamily="34" charset="0"/>
                <a:ea typeface="Calibri" pitchFamily="34" charset="-122"/>
                <a:cs typeface="Calibri" pitchFamily="34" charset="-120"/>
              </a:rPr>
              <a:t>Faster adoption, reduced dependency on individuals, consistent execution and scalable automation capability.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3"/>
          <p:cNvSpPr/>
          <p:nvPr/>
        </p:nvSpPr>
        <p:spPr>
          <a:xfrm>
            <a:off x="502920" y="329184"/>
            <a:ext cx="11185855" cy="237744"/>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AI &amp; AGENT LAYER</a:t>
            </a:r>
          </a:p>
        </p:txBody>
      </p:sp>
      <p:sp>
        <p:nvSpPr>
          <p:cNvPr id="4" name="Text 5"/>
          <p:cNvSpPr/>
          <p:nvPr/>
        </p:nvSpPr>
        <p:spPr>
          <a:xfrm>
            <a:off x="502920" y="585216"/>
            <a:ext cx="11185855" cy="566928"/>
          </a:xfrm>
          <a:prstGeom prst="rect">
            <a:avLst/>
          </a:prstGeom>
          <a:noFill/>
          <a:ln/>
        </p:spPr>
        <p:txBody>
          <a:bodyPr wrap="square" lIns="0" tIns="0" rIns="0" bIns="0" rtlCol="0" anchor="ctr"/>
          <a:lstStyle/>
          <a:p>
            <a:pPr indent="0" marL="0">
              <a:buNone/>
            </a:pPr>
            <a:r>
              <a:rPr lang="en-US" sz="3200" b="1" dirty="0">
                <a:solidFill>
                  <a:srgbClr val="16233F"/>
                </a:solidFill>
                <a:latin typeface="Cambria" pitchFamily="34" charset="0"/>
                <a:ea typeface="Cambria" pitchFamily="34" charset="-122"/>
                <a:cs typeface="Cambria" pitchFamily="34" charset="-120"/>
              </a:rPr>
              <a:t>The AI Agent Workforce</a:t>
            </a:r>
          </a:p>
        </p:txBody>
      </p:sp>
      <p:sp>
        <p:nvSpPr>
          <p:cNvPr id="6" name="Shape 7"/>
          <p:cNvSpPr/>
          <p:nvPr/>
        </p:nvSpPr>
        <p:spPr>
          <a:xfrm>
            <a:off x="502920" y="1289304"/>
            <a:ext cx="2631871" cy="1005840"/>
          </a:xfrm>
          <a:prstGeom prst="roundRect">
            <a:avLst>
              <a:gd name="adj" fmla="val 4651"/>
            </a:avLst>
          </a:prstGeom>
          <a:solidFill>
            <a:srgbClr val="F1F4F8"/>
          </a:solidFill>
          <a:ln w="9525">
            <a:solidFill>
              <a:srgbClr val="D8DFE8"/>
            </a:solidFill>
            <a:prstDash val="solid"/>
          </a:ln>
        </p:spPr>
      </p:sp>
      <p:sp>
        <p:nvSpPr>
          <p:cNvPr id="8" name="Text 9"/>
          <p:cNvSpPr/>
          <p:nvPr/>
        </p:nvSpPr>
        <p:spPr>
          <a:xfrm>
            <a:off x="685800" y="1426464"/>
            <a:ext cx="2266111" cy="457200"/>
          </a:xfrm>
          <a:prstGeom prst="rect">
            <a:avLst/>
          </a:prstGeom>
          <a:noFill/>
          <a:ln/>
        </p:spPr>
        <p:txBody>
          <a:bodyPr wrap="square" lIns="0" tIns="0" rIns="0" bIns="0" rtlCol="0" anchor="ctr"/>
          <a:lstStyle/>
          <a:p>
            <a:pPr algn="ctr" indent="0" marL="0">
              <a:buNone/>
            </a:pPr>
            <a:r>
              <a:rPr lang="en-US" sz="4000" b="1" dirty="0">
                <a:solidFill>
                  <a:srgbClr val="0E7C86"/>
                </a:solidFill>
                <a:latin typeface="Cambria" pitchFamily="34" charset="0"/>
                <a:ea typeface="Cambria" pitchFamily="34" charset="-122"/>
                <a:cs typeface="Cambria" pitchFamily="34" charset="-120"/>
              </a:rPr>
              <a:t>25</a:t>
            </a:r>
          </a:p>
        </p:txBody>
      </p:sp>
      <p:sp>
        <p:nvSpPr>
          <p:cNvPr id="10" name="Text 11"/>
          <p:cNvSpPr/>
          <p:nvPr/>
        </p:nvSpPr>
        <p:spPr>
          <a:xfrm>
            <a:off x="685800" y="1911096"/>
            <a:ext cx="2266111" cy="292608"/>
          </a:xfrm>
          <a:prstGeom prst="rect">
            <a:avLst/>
          </a:prstGeom>
          <a:noFill/>
          <a:ln/>
        </p:spPr>
        <p:txBody>
          <a:bodyPr wrap="square" lIns="0" tIns="0" rIns="0" bIns="0" rtlCol="0" anchor="ctr"/>
          <a:lstStyle/>
          <a:p>
            <a:pPr algn="ctr" indent="0" marL="0">
              <a:lnSpc>
                <a:spcPts val="1150"/>
              </a:lnSpc>
              <a:buNone/>
            </a:pPr>
            <a:r>
              <a:rPr lang="en-US" sz="1000" dirty="0">
                <a:solidFill>
                  <a:srgbClr val="5C6B84"/>
                </a:solidFill>
                <a:latin typeface="Calibri" pitchFamily="34" charset="0"/>
                <a:ea typeface="Calibri" pitchFamily="34" charset="-122"/>
                <a:cs typeface="Calibri" pitchFamily="34" charset="-120"/>
              </a:rPr>
              <a:t>AI agents in the production pipeline</a:t>
            </a:r>
          </a:p>
        </p:txBody>
      </p:sp>
      <p:sp>
        <p:nvSpPr>
          <p:cNvPr id="12" name="Shape 13"/>
          <p:cNvSpPr/>
          <p:nvPr/>
        </p:nvSpPr>
        <p:spPr>
          <a:xfrm>
            <a:off x="3354247" y="1289304"/>
            <a:ext cx="2631871" cy="1005840"/>
          </a:xfrm>
          <a:prstGeom prst="roundRect">
            <a:avLst>
              <a:gd name="adj" fmla="val 4651"/>
            </a:avLst>
          </a:prstGeom>
          <a:solidFill>
            <a:srgbClr val="F1F4F8"/>
          </a:solidFill>
          <a:ln w="9525">
            <a:solidFill>
              <a:srgbClr val="D8DFE8"/>
            </a:solidFill>
            <a:prstDash val="solid"/>
          </a:ln>
        </p:spPr>
      </p:sp>
      <p:sp>
        <p:nvSpPr>
          <p:cNvPr id="14" name="Text 15"/>
          <p:cNvSpPr/>
          <p:nvPr/>
        </p:nvSpPr>
        <p:spPr>
          <a:xfrm>
            <a:off x="3537127" y="1426464"/>
            <a:ext cx="2266111" cy="457200"/>
          </a:xfrm>
          <a:prstGeom prst="rect">
            <a:avLst/>
          </a:prstGeom>
          <a:noFill/>
          <a:ln/>
        </p:spPr>
        <p:txBody>
          <a:bodyPr wrap="square" lIns="0" tIns="0" rIns="0" bIns="0" rtlCol="0" anchor="ctr"/>
          <a:lstStyle/>
          <a:p>
            <a:pPr algn="ctr" indent="0" marL="0">
              <a:buNone/>
            </a:pPr>
            <a:r>
              <a:rPr lang="en-US" sz="4000" b="1" dirty="0">
                <a:solidFill>
                  <a:srgbClr val="0E7C86"/>
                </a:solidFill>
                <a:latin typeface="Cambria" pitchFamily="34" charset="0"/>
                <a:ea typeface="Cambria" pitchFamily="34" charset="-122"/>
                <a:cs typeface="Cambria" pitchFamily="34" charset="-120"/>
              </a:rPr>
              <a:t>9</a:t>
            </a:r>
          </a:p>
        </p:txBody>
      </p:sp>
      <p:sp>
        <p:nvSpPr>
          <p:cNvPr id="16" name="Text 17"/>
          <p:cNvSpPr/>
          <p:nvPr/>
        </p:nvSpPr>
        <p:spPr>
          <a:xfrm>
            <a:off x="3537127" y="1911096"/>
            <a:ext cx="2266111" cy="292608"/>
          </a:xfrm>
          <a:prstGeom prst="rect">
            <a:avLst/>
          </a:prstGeom>
          <a:noFill/>
          <a:ln/>
        </p:spPr>
        <p:txBody>
          <a:bodyPr wrap="square" lIns="0" tIns="0" rIns="0" bIns="0" rtlCol="0" anchor="ctr"/>
          <a:lstStyle/>
          <a:p>
            <a:pPr algn="ctr" indent="0" marL="0">
              <a:lnSpc>
                <a:spcPts val="1150"/>
              </a:lnSpc>
              <a:buNone/>
            </a:pPr>
            <a:r>
              <a:rPr lang="en-US" sz="1000" dirty="0">
                <a:solidFill>
                  <a:srgbClr val="5C6B84"/>
                </a:solidFill>
                <a:latin typeface="Calibri" pitchFamily="34" charset="0"/>
                <a:ea typeface="Calibri" pitchFamily="34" charset="-122"/>
                <a:cs typeface="Calibri" pitchFamily="34" charset="-120"/>
              </a:rPr>
              <a:t>STLC stages covered end to end</a:t>
            </a:r>
          </a:p>
        </p:txBody>
      </p:sp>
      <p:sp>
        <p:nvSpPr>
          <p:cNvPr id="18" name="Shape 19"/>
          <p:cNvSpPr/>
          <p:nvPr/>
        </p:nvSpPr>
        <p:spPr>
          <a:xfrm>
            <a:off x="6205574" y="1289304"/>
            <a:ext cx="2631871" cy="1005840"/>
          </a:xfrm>
          <a:prstGeom prst="roundRect">
            <a:avLst>
              <a:gd name="adj" fmla="val 4651"/>
            </a:avLst>
          </a:prstGeom>
          <a:solidFill>
            <a:srgbClr val="F1F4F8"/>
          </a:solidFill>
          <a:ln w="9525">
            <a:solidFill>
              <a:srgbClr val="D8DFE8"/>
            </a:solidFill>
            <a:prstDash val="solid"/>
          </a:ln>
        </p:spPr>
      </p:sp>
      <p:sp>
        <p:nvSpPr>
          <p:cNvPr id="20" name="Text 21"/>
          <p:cNvSpPr/>
          <p:nvPr/>
        </p:nvSpPr>
        <p:spPr>
          <a:xfrm>
            <a:off x="6388454" y="1426464"/>
            <a:ext cx="2266111" cy="457200"/>
          </a:xfrm>
          <a:prstGeom prst="rect">
            <a:avLst/>
          </a:prstGeom>
          <a:noFill/>
          <a:ln/>
        </p:spPr>
        <p:txBody>
          <a:bodyPr wrap="square" lIns="0" tIns="0" rIns="0" bIns="0" rtlCol="0" anchor="ctr"/>
          <a:lstStyle/>
          <a:p>
            <a:pPr algn="ctr" indent="0" marL="0">
              <a:buNone/>
            </a:pPr>
            <a:r>
              <a:rPr lang="en-US" sz="4000" b="1" dirty="0">
                <a:solidFill>
                  <a:srgbClr val="0E7C86"/>
                </a:solidFill>
                <a:latin typeface="Cambria" pitchFamily="34" charset="0"/>
                <a:ea typeface="Cambria" pitchFamily="34" charset="-122"/>
                <a:cs typeface="Cambria" pitchFamily="34" charset="-120"/>
              </a:rPr>
              <a:t>5</a:t>
            </a:r>
          </a:p>
        </p:txBody>
      </p:sp>
      <p:sp>
        <p:nvSpPr>
          <p:cNvPr id="22" name="Text 23"/>
          <p:cNvSpPr/>
          <p:nvPr/>
        </p:nvSpPr>
        <p:spPr>
          <a:xfrm>
            <a:off x="6388454" y="1911096"/>
            <a:ext cx="2266111" cy="292608"/>
          </a:xfrm>
          <a:prstGeom prst="rect">
            <a:avLst/>
          </a:prstGeom>
          <a:noFill/>
          <a:ln/>
        </p:spPr>
        <p:txBody>
          <a:bodyPr wrap="square" lIns="0" tIns="0" rIns="0" bIns="0" rtlCol="0" anchor="ctr"/>
          <a:lstStyle/>
          <a:p>
            <a:pPr algn="ctr" indent="0" marL="0">
              <a:lnSpc>
                <a:spcPts val="1150"/>
              </a:lnSpc>
              <a:buNone/>
            </a:pPr>
            <a:r>
              <a:rPr lang="en-US" sz="1000" dirty="0">
                <a:solidFill>
                  <a:srgbClr val="5C6B84"/>
                </a:solidFill>
                <a:latin typeface="Calibri" pitchFamily="34" charset="0"/>
                <a:ea typeface="Calibri" pitchFamily="34" charset="-122"/>
                <a:cs typeface="Calibri" pitchFamily="34" charset="-120"/>
              </a:rPr>
              <a:t>Independent reviewer and gate agents</a:t>
            </a:r>
          </a:p>
        </p:txBody>
      </p:sp>
      <p:sp>
        <p:nvSpPr>
          <p:cNvPr id="24" name="Shape 25"/>
          <p:cNvSpPr/>
          <p:nvPr/>
        </p:nvSpPr>
        <p:spPr>
          <a:xfrm>
            <a:off x="9056901" y="1289304"/>
            <a:ext cx="2631871" cy="1005840"/>
          </a:xfrm>
          <a:prstGeom prst="roundRect">
            <a:avLst>
              <a:gd name="adj" fmla="val 4651"/>
            </a:avLst>
          </a:prstGeom>
          <a:solidFill>
            <a:srgbClr val="F1F4F8"/>
          </a:solidFill>
          <a:ln w="9525">
            <a:solidFill>
              <a:srgbClr val="D8DFE8"/>
            </a:solidFill>
            <a:prstDash val="solid"/>
          </a:ln>
        </p:spPr>
      </p:sp>
      <p:sp>
        <p:nvSpPr>
          <p:cNvPr id="26" name="Text 27"/>
          <p:cNvSpPr/>
          <p:nvPr/>
        </p:nvSpPr>
        <p:spPr>
          <a:xfrm>
            <a:off x="9239781" y="1426464"/>
            <a:ext cx="2266111" cy="457200"/>
          </a:xfrm>
          <a:prstGeom prst="rect">
            <a:avLst/>
          </a:prstGeom>
          <a:noFill/>
          <a:ln/>
        </p:spPr>
        <p:txBody>
          <a:bodyPr wrap="square" lIns="0" tIns="0" rIns="0" bIns="0" rtlCol="0" anchor="ctr"/>
          <a:lstStyle/>
          <a:p>
            <a:pPr algn="ctr" indent="0" marL="0">
              <a:buNone/>
            </a:pPr>
            <a:r>
              <a:rPr lang="en-US" sz="4000" b="1" dirty="0">
                <a:solidFill>
                  <a:srgbClr val="0E7C86"/>
                </a:solidFill>
                <a:latin typeface="Cambria" pitchFamily="34" charset="0"/>
                <a:ea typeface="Cambria" pitchFamily="34" charset="-122"/>
                <a:cs typeface="Cambria" pitchFamily="34" charset="-120"/>
              </a:rPr>
              <a:t>3</a:t>
            </a:r>
          </a:p>
        </p:txBody>
      </p:sp>
      <p:sp>
        <p:nvSpPr>
          <p:cNvPr id="28" name="Text 29"/>
          <p:cNvSpPr/>
          <p:nvPr/>
        </p:nvSpPr>
        <p:spPr>
          <a:xfrm>
            <a:off x="9239781" y="1911096"/>
            <a:ext cx="2266111" cy="292608"/>
          </a:xfrm>
          <a:prstGeom prst="rect">
            <a:avLst/>
          </a:prstGeom>
          <a:noFill/>
          <a:ln/>
        </p:spPr>
        <p:txBody>
          <a:bodyPr wrap="square" lIns="0" tIns="0" rIns="0" bIns="0" rtlCol="0" anchor="ctr"/>
          <a:lstStyle/>
          <a:p>
            <a:pPr algn="ctr" indent="0" marL="0">
              <a:lnSpc>
                <a:spcPts val="1150"/>
              </a:lnSpc>
              <a:buNone/>
            </a:pPr>
            <a:r>
              <a:rPr lang="en-US" sz="1000" dirty="0">
                <a:solidFill>
                  <a:srgbClr val="5C6B84"/>
                </a:solidFill>
                <a:latin typeface="Calibri" pitchFamily="34" charset="0"/>
                <a:ea typeface="Calibri" pitchFamily="34" charset="-122"/>
                <a:cs typeface="Calibri" pitchFamily="34" charset="-120"/>
              </a:rPr>
              <a:t>Model roles: coding, vision, reasoning</a:t>
            </a:r>
          </a:p>
        </p:txBody>
      </p:sp>
      <p:sp>
        <p:nvSpPr>
          <p:cNvPr id="30" name="Shape 31"/>
          <p:cNvSpPr/>
          <p:nvPr/>
        </p:nvSpPr>
        <p:spPr>
          <a:xfrm>
            <a:off x="502920" y="2560320"/>
            <a:ext cx="2090867" cy="2011680"/>
          </a:xfrm>
          <a:prstGeom prst="roundRect">
            <a:avLst>
              <a:gd name="adj" fmla="val 4651"/>
            </a:avLst>
          </a:prstGeom>
          <a:solidFill>
            <a:srgbClr val="F1F4F8"/>
          </a:solidFill>
          <a:ln w="9525">
            <a:solidFill>
              <a:srgbClr val="D8DFE8"/>
            </a:solidFill>
            <a:prstDash val="solid"/>
          </a:ln>
        </p:spPr>
      </p:sp>
      <p:sp>
        <p:nvSpPr>
          <p:cNvPr id="32" name="Shape 33"/>
          <p:cNvSpPr/>
          <p:nvPr/>
        </p:nvSpPr>
        <p:spPr>
          <a:xfrm>
            <a:off x="704088" y="2761488"/>
            <a:ext cx="384048" cy="384048"/>
          </a:xfrm>
          <a:prstGeom prst="ellipse">
            <a:avLst/>
          </a:prstGeom>
          <a:solidFill>
            <a:srgbClr val="0E7C86"/>
          </a:solidFill>
          <a:ln/>
        </p:spPr>
      </p:sp>
      <p:sp>
        <p:nvSpPr>
          <p:cNvPr id="34" name="Text 35"/>
          <p:cNvSpPr/>
          <p:nvPr/>
        </p:nvSpPr>
        <p:spPr>
          <a:xfrm>
            <a:off x="704088" y="276148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01</a:t>
            </a:r>
          </a:p>
        </p:txBody>
      </p:sp>
      <p:sp>
        <p:nvSpPr>
          <p:cNvPr id="36" name="Text 37"/>
          <p:cNvSpPr/>
          <p:nvPr/>
        </p:nvSpPr>
        <p:spPr>
          <a:xfrm>
            <a:off x="704088" y="3200400"/>
            <a:ext cx="1688531" cy="457200"/>
          </a:xfrm>
          <a:prstGeom prst="rect">
            <a:avLst/>
          </a:prstGeom>
          <a:noFill/>
          <a:ln/>
        </p:spPr>
        <p:txBody>
          <a:bodyPr wrap="square" lIns="0" tIns="0" rIns="0" bIns="0" rtlCol="0" anchor="t"/>
          <a:lstStyle/>
          <a:p>
            <a:pPr indent="0" marL="0">
              <a:lnSpc>
                <a:spcPts val="1350"/>
              </a:lnSpc>
              <a:buNone/>
            </a:pPr>
            <a:r>
              <a:rPr lang="en-US" sz="1150" b="1" dirty="0">
                <a:solidFill>
                  <a:srgbClr val="16233F"/>
                </a:solidFill>
                <a:latin typeface="Cambria" pitchFamily="34" charset="0"/>
                <a:ea typeface="Cambria" pitchFamily="34" charset="-122"/>
                <a:cs typeface="Cambria" pitchFamily="34" charset="-120"/>
              </a:rPr>
              <a:t>Requirements</a:t>
            </a:r>
          </a:p>
        </p:txBody>
      </p:sp>
      <p:sp>
        <p:nvSpPr>
          <p:cNvPr id="38" name="Text 39"/>
          <p:cNvSpPr/>
          <p:nvPr/>
        </p:nvSpPr>
        <p:spPr>
          <a:xfrm>
            <a:off x="704088" y="3675888"/>
            <a:ext cx="1688531"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6 AGENTS</a:t>
            </a:r>
          </a:p>
        </p:txBody>
      </p:sp>
      <p:sp>
        <p:nvSpPr>
          <p:cNvPr id="40" name="Text 41"/>
          <p:cNvSpPr/>
          <p:nvPr/>
        </p:nvSpPr>
        <p:spPr>
          <a:xfrm>
            <a:off x="704088" y="3931920"/>
            <a:ext cx="1688531" cy="475488"/>
          </a:xfrm>
          <a:prstGeom prst="rect">
            <a:avLst/>
          </a:prstGeom>
          <a:noFill/>
          <a:ln/>
        </p:spPr>
        <p:txBody>
          <a:bodyPr wrap="square" lIns="0" tIns="0" rIns="0" bIns="0" rtlCol="0" anchor="t"/>
          <a:lstStyle/>
          <a:p>
            <a:pPr indent="0" marL="0">
              <a:lnSpc>
                <a:spcPts val="1100"/>
              </a:lnSpc>
              <a:buNone/>
            </a:pPr>
            <a:r>
              <a:rPr lang="en-US" sz="900" dirty="0">
                <a:solidFill>
                  <a:srgbClr val="5C6B84"/>
                </a:solidFill>
                <a:latin typeface="Calibri" pitchFamily="34" charset="0"/>
                <a:ea typeface="Calibri" pitchFamily="34" charset="-122"/>
                <a:cs typeface="Calibri" pitchFamily="34" charset="-120"/>
              </a:rPr>
              <a:t>Documents, screenshots, live portals and source code turned into structured requirements.</a:t>
            </a:r>
          </a:p>
        </p:txBody>
      </p:sp>
      <p:sp>
        <p:nvSpPr>
          <p:cNvPr id="42" name="Shape 43"/>
          <p:cNvSpPr/>
          <p:nvPr/>
        </p:nvSpPr>
        <p:spPr>
          <a:xfrm>
            <a:off x="2776667" y="2560320"/>
            <a:ext cx="2090867" cy="2011680"/>
          </a:xfrm>
          <a:prstGeom prst="roundRect">
            <a:avLst>
              <a:gd name="adj" fmla="val 4651"/>
            </a:avLst>
          </a:prstGeom>
          <a:solidFill>
            <a:srgbClr val="F1F4F8"/>
          </a:solidFill>
          <a:ln w="9525">
            <a:solidFill>
              <a:srgbClr val="D8DFE8"/>
            </a:solidFill>
            <a:prstDash val="solid"/>
          </a:ln>
        </p:spPr>
      </p:sp>
      <p:sp>
        <p:nvSpPr>
          <p:cNvPr id="44" name="Shape 45"/>
          <p:cNvSpPr/>
          <p:nvPr/>
        </p:nvSpPr>
        <p:spPr>
          <a:xfrm>
            <a:off x="2977835" y="2761488"/>
            <a:ext cx="384048" cy="384048"/>
          </a:xfrm>
          <a:prstGeom prst="ellipse">
            <a:avLst/>
          </a:prstGeom>
          <a:solidFill>
            <a:srgbClr val="0E7C86"/>
          </a:solidFill>
          <a:ln/>
        </p:spPr>
      </p:sp>
      <p:sp>
        <p:nvSpPr>
          <p:cNvPr id="46" name="Text 47"/>
          <p:cNvSpPr/>
          <p:nvPr/>
        </p:nvSpPr>
        <p:spPr>
          <a:xfrm>
            <a:off x="2977835" y="276148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02</a:t>
            </a:r>
          </a:p>
        </p:txBody>
      </p:sp>
      <p:sp>
        <p:nvSpPr>
          <p:cNvPr id="48" name="Text 49"/>
          <p:cNvSpPr/>
          <p:nvPr/>
        </p:nvSpPr>
        <p:spPr>
          <a:xfrm>
            <a:off x="2977835" y="3200400"/>
            <a:ext cx="1688531" cy="457200"/>
          </a:xfrm>
          <a:prstGeom prst="rect">
            <a:avLst/>
          </a:prstGeom>
          <a:noFill/>
          <a:ln/>
        </p:spPr>
        <p:txBody>
          <a:bodyPr wrap="square" lIns="0" tIns="0" rIns="0" bIns="0" rtlCol="0" anchor="t"/>
          <a:lstStyle/>
          <a:p>
            <a:pPr indent="0" marL="0">
              <a:lnSpc>
                <a:spcPts val="1350"/>
              </a:lnSpc>
              <a:buNone/>
            </a:pPr>
            <a:r>
              <a:rPr lang="en-US" sz="1150" b="1" dirty="0">
                <a:solidFill>
                  <a:srgbClr val="16233F"/>
                </a:solidFill>
                <a:latin typeface="Cambria" pitchFamily="34" charset="0"/>
                <a:ea typeface="Cambria" pitchFamily="34" charset="-122"/>
                <a:cs typeface="Cambria" pitchFamily="34" charset="-120"/>
              </a:rPr>
              <a:t>Test Design</a:t>
            </a:r>
          </a:p>
        </p:txBody>
      </p:sp>
      <p:sp>
        <p:nvSpPr>
          <p:cNvPr id="50" name="Text 51"/>
          <p:cNvSpPr/>
          <p:nvPr/>
        </p:nvSpPr>
        <p:spPr>
          <a:xfrm>
            <a:off x="2977835" y="3675888"/>
            <a:ext cx="1688531"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5 AGENTS</a:t>
            </a:r>
          </a:p>
        </p:txBody>
      </p:sp>
      <p:sp>
        <p:nvSpPr>
          <p:cNvPr id="52" name="Text 53"/>
          <p:cNvSpPr/>
          <p:nvPr/>
        </p:nvSpPr>
        <p:spPr>
          <a:xfrm>
            <a:off x="2977835" y="3931920"/>
            <a:ext cx="1688531" cy="475488"/>
          </a:xfrm>
          <a:prstGeom prst="rect">
            <a:avLst/>
          </a:prstGeom>
          <a:noFill/>
          <a:ln/>
        </p:spPr>
        <p:txBody>
          <a:bodyPr wrap="square" lIns="0" tIns="0" rIns="0" bIns="0" rtlCol="0" anchor="t"/>
          <a:lstStyle/>
          <a:p>
            <a:pPr indent="0" marL="0">
              <a:lnSpc>
                <a:spcPts val="1100"/>
              </a:lnSpc>
              <a:buNone/>
            </a:pPr>
            <a:r>
              <a:rPr lang="en-US" sz="900" dirty="0">
                <a:solidFill>
                  <a:srgbClr val="5C6B84"/>
                </a:solidFill>
                <a:latin typeface="Calibri" pitchFamily="34" charset="0"/>
                <a:ea typeface="Calibri" pitchFamily="34" charset="-122"/>
                <a:cs typeface="Calibri" pitchFamily="34" charset="-120"/>
              </a:rPr>
              <a:t>Plans, scenarios and test cases generated, then graded by independent reviewer agents.</a:t>
            </a:r>
          </a:p>
        </p:txBody>
      </p:sp>
      <p:sp>
        <p:nvSpPr>
          <p:cNvPr id="54" name="Shape 55"/>
          <p:cNvSpPr/>
          <p:nvPr/>
        </p:nvSpPr>
        <p:spPr>
          <a:xfrm>
            <a:off x="5050414" y="2560320"/>
            <a:ext cx="2090867" cy="2011680"/>
          </a:xfrm>
          <a:prstGeom prst="roundRect">
            <a:avLst>
              <a:gd name="adj" fmla="val 4651"/>
            </a:avLst>
          </a:prstGeom>
          <a:solidFill>
            <a:srgbClr val="F1F4F8"/>
          </a:solidFill>
          <a:ln w="9525">
            <a:solidFill>
              <a:srgbClr val="D8DFE8"/>
            </a:solidFill>
            <a:prstDash val="solid"/>
          </a:ln>
        </p:spPr>
      </p:sp>
      <p:sp>
        <p:nvSpPr>
          <p:cNvPr id="56" name="Shape 57"/>
          <p:cNvSpPr/>
          <p:nvPr/>
        </p:nvSpPr>
        <p:spPr>
          <a:xfrm>
            <a:off x="5251582" y="2761488"/>
            <a:ext cx="384048" cy="384048"/>
          </a:xfrm>
          <a:prstGeom prst="ellipse">
            <a:avLst/>
          </a:prstGeom>
          <a:solidFill>
            <a:srgbClr val="0E7C86"/>
          </a:solidFill>
          <a:ln/>
        </p:spPr>
      </p:sp>
      <p:sp>
        <p:nvSpPr>
          <p:cNvPr id="58" name="Text 59"/>
          <p:cNvSpPr/>
          <p:nvPr/>
        </p:nvSpPr>
        <p:spPr>
          <a:xfrm>
            <a:off x="5251582" y="276148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03</a:t>
            </a:r>
          </a:p>
        </p:txBody>
      </p:sp>
      <p:sp>
        <p:nvSpPr>
          <p:cNvPr id="60" name="Text 61"/>
          <p:cNvSpPr/>
          <p:nvPr/>
        </p:nvSpPr>
        <p:spPr>
          <a:xfrm>
            <a:off x="5251582" y="3200400"/>
            <a:ext cx="1688531" cy="457200"/>
          </a:xfrm>
          <a:prstGeom prst="rect">
            <a:avLst/>
          </a:prstGeom>
          <a:noFill/>
          <a:ln/>
        </p:spPr>
        <p:txBody>
          <a:bodyPr wrap="square" lIns="0" tIns="0" rIns="0" bIns="0" rtlCol="0" anchor="t"/>
          <a:lstStyle/>
          <a:p>
            <a:pPr indent="0" marL="0">
              <a:lnSpc>
                <a:spcPts val="1350"/>
              </a:lnSpc>
              <a:buNone/>
            </a:pPr>
            <a:r>
              <a:rPr lang="en-US" sz="1150" b="1" dirty="0">
                <a:solidFill>
                  <a:srgbClr val="16233F"/>
                </a:solidFill>
                <a:latin typeface="Cambria" pitchFamily="34" charset="0"/>
                <a:ea typeface="Cambria" pitchFamily="34" charset="-122"/>
                <a:cs typeface="Cambria" pitchFamily="34" charset="-120"/>
              </a:rPr>
              <a:t>Automation</a:t>
            </a:r>
          </a:p>
        </p:txBody>
      </p:sp>
      <p:sp>
        <p:nvSpPr>
          <p:cNvPr id="62" name="Text 63"/>
          <p:cNvSpPr/>
          <p:nvPr/>
        </p:nvSpPr>
        <p:spPr>
          <a:xfrm>
            <a:off x="5251582" y="3675888"/>
            <a:ext cx="1688531"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9 AGENTS</a:t>
            </a:r>
          </a:p>
        </p:txBody>
      </p:sp>
      <p:sp>
        <p:nvSpPr>
          <p:cNvPr id="64" name="Text 65"/>
          <p:cNvSpPr/>
          <p:nvPr/>
        </p:nvSpPr>
        <p:spPr>
          <a:xfrm>
            <a:off x="5251582" y="3931920"/>
            <a:ext cx="1688531" cy="475488"/>
          </a:xfrm>
          <a:prstGeom prst="rect">
            <a:avLst/>
          </a:prstGeom>
          <a:noFill/>
          <a:ln/>
        </p:spPr>
        <p:txBody>
          <a:bodyPr wrap="square" lIns="0" tIns="0" rIns="0" bIns="0" rtlCol="0" anchor="t"/>
          <a:lstStyle/>
          <a:p>
            <a:pPr indent="0" marL="0">
              <a:lnSpc>
                <a:spcPts val="1100"/>
              </a:lnSpc>
              <a:buNone/>
            </a:pPr>
            <a:r>
              <a:rPr lang="en-US" sz="900" dirty="0">
                <a:solidFill>
                  <a:srgbClr val="5C6B84"/>
                </a:solidFill>
                <a:latin typeface="Calibri" pitchFamily="34" charset="0"/>
                <a:ea typeface="Calibri" pitchFamily="34" charset="-122"/>
                <a:cs typeface="Calibri" pitchFamily="34" charset="-120"/>
              </a:rPr>
              <a:t>Eligibility, live-app grounding, script generation, dry run, self-repair and review.</a:t>
            </a:r>
          </a:p>
        </p:txBody>
      </p:sp>
      <p:sp>
        <p:nvSpPr>
          <p:cNvPr id="66" name="Shape 67"/>
          <p:cNvSpPr/>
          <p:nvPr/>
        </p:nvSpPr>
        <p:spPr>
          <a:xfrm>
            <a:off x="7324161" y="2560320"/>
            <a:ext cx="2090867" cy="2011680"/>
          </a:xfrm>
          <a:prstGeom prst="roundRect">
            <a:avLst>
              <a:gd name="adj" fmla="val 4651"/>
            </a:avLst>
          </a:prstGeom>
          <a:solidFill>
            <a:srgbClr val="F1F4F8"/>
          </a:solidFill>
          <a:ln w="9525">
            <a:solidFill>
              <a:srgbClr val="D8DFE8"/>
            </a:solidFill>
            <a:prstDash val="solid"/>
          </a:ln>
        </p:spPr>
      </p:sp>
      <p:sp>
        <p:nvSpPr>
          <p:cNvPr id="68" name="Shape 69"/>
          <p:cNvSpPr/>
          <p:nvPr/>
        </p:nvSpPr>
        <p:spPr>
          <a:xfrm>
            <a:off x="7525329" y="2761488"/>
            <a:ext cx="384048" cy="384048"/>
          </a:xfrm>
          <a:prstGeom prst="ellipse">
            <a:avLst/>
          </a:prstGeom>
          <a:solidFill>
            <a:srgbClr val="0E7C86"/>
          </a:solidFill>
          <a:ln/>
        </p:spPr>
      </p:sp>
      <p:sp>
        <p:nvSpPr>
          <p:cNvPr id="70" name="Text 71"/>
          <p:cNvSpPr/>
          <p:nvPr/>
        </p:nvSpPr>
        <p:spPr>
          <a:xfrm>
            <a:off x="7525329" y="276148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04</a:t>
            </a:r>
          </a:p>
        </p:txBody>
      </p:sp>
      <p:sp>
        <p:nvSpPr>
          <p:cNvPr id="72" name="Text 73"/>
          <p:cNvSpPr/>
          <p:nvPr/>
        </p:nvSpPr>
        <p:spPr>
          <a:xfrm>
            <a:off x="7525329" y="3200400"/>
            <a:ext cx="1688531" cy="457200"/>
          </a:xfrm>
          <a:prstGeom prst="rect">
            <a:avLst/>
          </a:prstGeom>
          <a:noFill/>
          <a:ln/>
        </p:spPr>
        <p:txBody>
          <a:bodyPr wrap="square" lIns="0" tIns="0" rIns="0" bIns="0" rtlCol="0" anchor="t"/>
          <a:lstStyle/>
          <a:p>
            <a:pPr indent="0" marL="0">
              <a:lnSpc>
                <a:spcPts val="1350"/>
              </a:lnSpc>
              <a:buNone/>
            </a:pPr>
            <a:r>
              <a:rPr lang="en-US" sz="1150" b="1" dirty="0">
                <a:solidFill>
                  <a:srgbClr val="16233F"/>
                </a:solidFill>
                <a:latin typeface="Cambria" pitchFamily="34" charset="0"/>
                <a:ea typeface="Cambria" pitchFamily="34" charset="-122"/>
                <a:cs typeface="Cambria" pitchFamily="34" charset="-120"/>
              </a:rPr>
              <a:t>Execution &amp; Defects</a:t>
            </a:r>
          </a:p>
        </p:txBody>
      </p:sp>
      <p:sp>
        <p:nvSpPr>
          <p:cNvPr id="74" name="Text 75"/>
          <p:cNvSpPr/>
          <p:nvPr/>
        </p:nvSpPr>
        <p:spPr>
          <a:xfrm>
            <a:off x="7525329" y="3675888"/>
            <a:ext cx="1688531"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3 AGENTS</a:t>
            </a:r>
          </a:p>
        </p:txBody>
      </p:sp>
      <p:sp>
        <p:nvSpPr>
          <p:cNvPr id="76" name="Text 77"/>
          <p:cNvSpPr/>
          <p:nvPr/>
        </p:nvSpPr>
        <p:spPr>
          <a:xfrm>
            <a:off x="7525329" y="3931920"/>
            <a:ext cx="1688531" cy="475488"/>
          </a:xfrm>
          <a:prstGeom prst="rect">
            <a:avLst/>
          </a:prstGeom>
          <a:noFill/>
          <a:ln/>
        </p:spPr>
        <p:txBody>
          <a:bodyPr wrap="square" lIns="0" tIns="0" rIns="0" bIns="0" rtlCol="0" anchor="t"/>
          <a:lstStyle/>
          <a:p>
            <a:pPr indent="0" marL="0">
              <a:lnSpc>
                <a:spcPts val="1100"/>
              </a:lnSpc>
              <a:buNone/>
            </a:pPr>
            <a:r>
              <a:rPr lang="en-US" sz="900" dirty="0">
                <a:solidFill>
                  <a:srgbClr val="5C6B84"/>
                </a:solidFill>
                <a:latin typeface="Calibri" pitchFamily="34" charset="0"/>
                <a:ea typeface="Calibri" pitchFamily="34" charset="-122"/>
                <a:cs typeface="Calibri" pitchFamily="34" charset="-120"/>
              </a:rPr>
              <a:t>Runs suites, classifies each failure and drafts defects for human approval.</a:t>
            </a:r>
          </a:p>
        </p:txBody>
      </p:sp>
      <p:sp>
        <p:nvSpPr>
          <p:cNvPr id="78" name="Shape 79"/>
          <p:cNvSpPr/>
          <p:nvPr/>
        </p:nvSpPr>
        <p:spPr>
          <a:xfrm>
            <a:off x="9597908" y="2560320"/>
            <a:ext cx="2090867" cy="2011680"/>
          </a:xfrm>
          <a:prstGeom prst="roundRect">
            <a:avLst>
              <a:gd name="adj" fmla="val 4651"/>
            </a:avLst>
          </a:prstGeom>
          <a:solidFill>
            <a:srgbClr val="F1F4F8"/>
          </a:solidFill>
          <a:ln w="9525">
            <a:solidFill>
              <a:srgbClr val="D8DFE8"/>
            </a:solidFill>
            <a:prstDash val="solid"/>
          </a:ln>
        </p:spPr>
      </p:sp>
      <p:sp>
        <p:nvSpPr>
          <p:cNvPr id="80" name="Shape 81"/>
          <p:cNvSpPr/>
          <p:nvPr/>
        </p:nvSpPr>
        <p:spPr>
          <a:xfrm>
            <a:off x="9799076" y="2761488"/>
            <a:ext cx="384048" cy="384048"/>
          </a:xfrm>
          <a:prstGeom prst="ellipse">
            <a:avLst/>
          </a:prstGeom>
          <a:solidFill>
            <a:srgbClr val="0E7C86"/>
          </a:solidFill>
          <a:ln/>
        </p:spPr>
      </p:sp>
      <p:sp>
        <p:nvSpPr>
          <p:cNvPr id="82" name="Text 83"/>
          <p:cNvSpPr/>
          <p:nvPr/>
        </p:nvSpPr>
        <p:spPr>
          <a:xfrm>
            <a:off x="9799076" y="276148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05</a:t>
            </a:r>
          </a:p>
        </p:txBody>
      </p:sp>
      <p:sp>
        <p:nvSpPr>
          <p:cNvPr id="84" name="Text 85"/>
          <p:cNvSpPr/>
          <p:nvPr/>
        </p:nvSpPr>
        <p:spPr>
          <a:xfrm>
            <a:off x="9799076" y="3200400"/>
            <a:ext cx="1688531" cy="457200"/>
          </a:xfrm>
          <a:prstGeom prst="rect">
            <a:avLst/>
          </a:prstGeom>
          <a:noFill/>
          <a:ln/>
        </p:spPr>
        <p:txBody>
          <a:bodyPr wrap="square" lIns="0" tIns="0" rIns="0" bIns="0" rtlCol="0" anchor="t"/>
          <a:lstStyle/>
          <a:p>
            <a:pPr indent="0" marL="0">
              <a:lnSpc>
                <a:spcPts val="1350"/>
              </a:lnSpc>
              <a:buNone/>
            </a:pPr>
            <a:r>
              <a:rPr lang="en-US" sz="1150" b="1" dirty="0">
                <a:solidFill>
                  <a:srgbClr val="16233F"/>
                </a:solidFill>
                <a:latin typeface="Cambria" pitchFamily="34" charset="0"/>
                <a:ea typeface="Cambria" pitchFamily="34" charset="-122"/>
                <a:cs typeface="Cambria" pitchFamily="34" charset="-120"/>
              </a:rPr>
              <a:t>Reporting &amp; Assist</a:t>
            </a:r>
          </a:p>
        </p:txBody>
      </p:sp>
      <p:sp>
        <p:nvSpPr>
          <p:cNvPr id="86" name="Text 87"/>
          <p:cNvSpPr/>
          <p:nvPr/>
        </p:nvSpPr>
        <p:spPr>
          <a:xfrm>
            <a:off x="9799076" y="3675888"/>
            <a:ext cx="1688531"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2 AGENTS</a:t>
            </a:r>
          </a:p>
        </p:txBody>
      </p:sp>
      <p:sp>
        <p:nvSpPr>
          <p:cNvPr id="88" name="Text 89"/>
          <p:cNvSpPr/>
          <p:nvPr/>
        </p:nvSpPr>
        <p:spPr>
          <a:xfrm>
            <a:off x="9799076" y="3931920"/>
            <a:ext cx="1688531" cy="475488"/>
          </a:xfrm>
          <a:prstGeom prst="rect">
            <a:avLst/>
          </a:prstGeom>
          <a:noFill/>
          <a:ln/>
        </p:spPr>
        <p:txBody>
          <a:bodyPr wrap="square" lIns="0" tIns="0" rIns="0" bIns="0" rtlCol="0" anchor="t"/>
          <a:lstStyle/>
          <a:p>
            <a:pPr indent="0" marL="0">
              <a:lnSpc>
                <a:spcPts val="1100"/>
              </a:lnSpc>
              <a:buNone/>
            </a:pPr>
            <a:r>
              <a:rPr lang="en-US" sz="900" dirty="0">
                <a:solidFill>
                  <a:srgbClr val="5C6B84"/>
                </a:solidFill>
                <a:latin typeface="Calibri" pitchFamily="34" charset="0"/>
                <a:ea typeface="Calibri" pitchFamily="34" charset="-122"/>
                <a:cs typeface="Calibri" pitchFamily="34" charset="-120"/>
              </a:rPr>
              <a:t>Executive QA reporting plus the RBAC-scoped in-product copilot.</a:t>
            </a:r>
          </a:p>
        </p:txBody>
      </p:sp>
      <p:sp>
        <p:nvSpPr>
          <p:cNvPr id="90" name="Shape 91"/>
          <p:cNvSpPr/>
          <p:nvPr/>
        </p:nvSpPr>
        <p:spPr>
          <a:xfrm>
            <a:off x="502920" y="5138928"/>
            <a:ext cx="11185855" cy="914400"/>
          </a:xfrm>
          <a:prstGeom prst="roundRect">
            <a:avLst>
              <a:gd name="adj" fmla="val 8000"/>
            </a:avLst>
          </a:prstGeom>
          <a:solidFill>
            <a:srgbClr val="0D1730"/>
          </a:solidFill>
          <a:ln/>
        </p:spPr>
      </p:sp>
      <p:sp>
        <p:nvSpPr>
          <p:cNvPr id="92" name="Text 93"/>
          <p:cNvSpPr/>
          <p:nvPr/>
        </p:nvSpPr>
        <p:spPr>
          <a:xfrm>
            <a:off x="813816" y="5285232"/>
            <a:ext cx="2194560" cy="219456"/>
          </a:xfrm>
          <a:prstGeom prst="rect">
            <a:avLst/>
          </a:prstGeom>
          <a:noFill/>
          <a:ln/>
        </p:spPr>
        <p:txBody>
          <a:bodyPr wrap="square" lIns="0" tIns="0" rIns="0" bIns="0" rtlCol="0" anchor="ctr"/>
          <a:lstStyle/>
          <a:p>
            <a:pPr indent="0" marL="0">
              <a:buNone/>
            </a:pPr>
            <a:r>
              <a:rPr lang="en-US" sz="950" b="1" spc="140" kern="0" dirty="0">
                <a:solidFill>
                  <a:srgbClr val="02C39A"/>
                </a:solidFill>
                <a:latin typeface="Calibri" pitchFamily="34" charset="0"/>
                <a:ea typeface="Calibri" pitchFamily="34" charset="-122"/>
                <a:cs typeface="Calibri" pitchFamily="34" charset="-120"/>
              </a:rPr>
              <a:t>KEY MESSAGE</a:t>
            </a:r>
          </a:p>
        </p:txBody>
      </p:sp>
      <p:sp>
        <p:nvSpPr>
          <p:cNvPr id="94" name="Text 95"/>
          <p:cNvSpPr/>
          <p:nvPr/>
        </p:nvSpPr>
        <p:spPr>
          <a:xfrm>
            <a:off x="813816" y="5504688"/>
            <a:ext cx="10564063" cy="493776"/>
          </a:xfrm>
          <a:prstGeom prst="rect">
            <a:avLst/>
          </a:prstGeom>
          <a:noFill/>
          <a:ln/>
        </p:spPr>
        <p:txBody>
          <a:bodyPr wrap="square" lIns="0" tIns="0" rIns="0" bIns="0" rtlCol="0" anchor="ctr"/>
          <a:lstStyle/>
          <a:p>
            <a:pPr indent="0" marL="0">
              <a:buNone/>
            </a:pPr>
            <a:r>
              <a:rPr lang="en-US" sz="1300" dirty="0">
                <a:solidFill>
                  <a:srgbClr val="E4EBF7"/>
                </a:solidFill>
                <a:latin typeface="Calibri" pitchFamily="34" charset="0"/>
                <a:ea typeface="Calibri" pitchFamily="34" charset="-122"/>
                <a:cs typeface="Calibri" pitchFamily="34" charset="-120"/>
              </a:rPr>
              <a:t>25 specialised agents run the life cycle end to end — deterministic rules first, reviewer agents second, human approval at every gate.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3"/>
          <p:cNvSpPr/>
          <p:nvPr/>
        </p:nvSpPr>
        <p:spPr>
          <a:xfrm>
            <a:off x="502920" y="329184"/>
            <a:ext cx="11185855" cy="237744"/>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AGENT INVENTORY</a:t>
            </a:r>
          </a:p>
        </p:txBody>
      </p:sp>
      <p:sp>
        <p:nvSpPr>
          <p:cNvPr id="4" name="Text 5"/>
          <p:cNvSpPr/>
          <p:nvPr/>
        </p:nvSpPr>
        <p:spPr>
          <a:xfrm>
            <a:off x="502920" y="585216"/>
            <a:ext cx="11185855" cy="566928"/>
          </a:xfrm>
          <a:prstGeom prst="rect">
            <a:avLst/>
          </a:prstGeom>
          <a:noFill/>
          <a:ln/>
        </p:spPr>
        <p:txBody>
          <a:bodyPr wrap="square" lIns="0" tIns="0" rIns="0" bIns="0" rtlCol="0" anchor="ctr"/>
          <a:lstStyle/>
          <a:p>
            <a:pPr indent="0" marL="0">
              <a:buNone/>
            </a:pPr>
            <a:r>
              <a:rPr lang="en-US" sz="3200" b="1" dirty="0">
                <a:solidFill>
                  <a:srgbClr val="16233F"/>
                </a:solidFill>
                <a:latin typeface="Cambria" pitchFamily="34" charset="0"/>
                <a:ea typeface="Cambria" pitchFamily="34" charset="-122"/>
                <a:cs typeface="Cambria" pitchFamily="34" charset="-120"/>
              </a:rPr>
              <a:t>What Each Agent Does</a:t>
            </a:r>
          </a:p>
        </p:txBody>
      </p:sp>
      <p:sp>
        <p:nvSpPr>
          <p:cNvPr id="6" name="Shape 7"/>
          <p:cNvSpPr/>
          <p:nvPr/>
        </p:nvSpPr>
        <p:spPr>
          <a:xfrm>
            <a:off x="502920" y="1289304"/>
            <a:ext cx="3576218" cy="4846320"/>
          </a:xfrm>
          <a:prstGeom prst="roundRect">
            <a:avLst>
              <a:gd name="adj" fmla="val 4651"/>
            </a:avLst>
          </a:prstGeom>
          <a:solidFill>
            <a:srgbClr val="F1F4F8"/>
          </a:solidFill>
          <a:ln w="9525">
            <a:solidFill>
              <a:srgbClr val="D8DFE8"/>
            </a:solidFill>
            <a:prstDash val="solid"/>
          </a:ln>
        </p:spPr>
      </p:sp>
      <p:sp>
        <p:nvSpPr>
          <p:cNvPr id="8" name="Text 9"/>
          <p:cNvSpPr/>
          <p:nvPr/>
        </p:nvSpPr>
        <p:spPr>
          <a:xfrm>
            <a:off x="731520" y="1517904"/>
            <a:ext cx="3119018" cy="4389120"/>
          </a:xfrm>
          <a:prstGeom prst="rect">
            <a:avLst/>
          </a:prstGeom>
          <a:noFill/>
          <a:ln/>
        </p:spPr>
        <p:txBody>
          <a:bodyPr wrap="square" lIns="0" tIns="0" rIns="0" bIns="0" rtlCol="0" anchor="t"/>
          <a:lstStyle/>
          <a:p>
            <a:pPr indent="0" marL="0">
              <a:spcAft>
                <a:spcPts val="400"/>
              </a:spcAft>
              <a:buNone/>
            </a:pPr>
            <a:r>
              <a:rPr lang="en-US" sz="950" b="1" spc="100" kern="0" dirty="0">
                <a:solidFill>
                  <a:srgbClr val="0E7C86"/>
                </a:solidFill>
                <a:latin typeface="Calibri" pitchFamily="34" charset="0"/>
                <a:ea typeface="Calibri" pitchFamily="34" charset="-122"/>
                <a:cs typeface="Calibri" pitchFamily="34" charset="-120"/>
              </a:rPr>
              <a:t>REQUIREMENTS · 6 AGENTS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Requirement Intake</a:t>
            </a:r>
            <a:r>
              <a:rPr lang="en-US" sz="900" dirty="0">
                <a:solidFill>
                  <a:srgbClr val="5C6B84"/>
                </a:solidFill>
                <a:latin typeface="Calibri" pitchFamily="34" charset="0"/>
                <a:ea typeface="Calibri" pitchFamily="34" charset="-122"/>
                <a:cs typeface="Calibri" pitchFamily="34" charset="-120"/>
              </a:rPr>
              <a:t> — extracts structured requirements from uploaded documents.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Requirement Quality</a:t>
            </a:r>
            <a:r>
              <a:rPr lang="en-US" sz="900" dirty="0">
                <a:solidFill>
                  <a:srgbClr val="5C6B84"/>
                </a:solidFill>
                <a:latin typeface="Calibri" pitchFamily="34" charset="0"/>
                <a:ea typeface="Calibri" pitchFamily="34" charset="-122"/>
                <a:cs typeface="Calibri" pitchFamily="34" charset="-120"/>
              </a:rPr>
              <a:t> — scores clarity, testability and completeness; raises clarifications.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Requirement Enrichment</a:t>
            </a:r>
            <a:r>
              <a:rPr lang="en-US" sz="900" dirty="0">
                <a:solidFill>
                  <a:srgbClr val="5C6B84"/>
                </a:solidFill>
                <a:latin typeface="Calibri" pitchFamily="34" charset="0"/>
                <a:ea typeface="Calibri" pitchFamily="34" charset="-122"/>
                <a:cs typeface="Calibri" pitchFamily="34" charset="-120"/>
              </a:rPr>
              <a:t> — back-fills structure on Jira-imported requirements.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UI Analysis</a:t>
            </a:r>
            <a:r>
              <a:rPr lang="en-US" sz="900" dirty="0">
                <a:solidFill>
                  <a:srgbClr val="5C6B84"/>
                </a:solidFill>
                <a:latin typeface="Calibri" pitchFamily="34" charset="0"/>
                <a:ea typeface="Calibri" pitchFamily="34" charset="-122"/>
                <a:cs typeface="Calibri" pitchFamily="34" charset="-120"/>
              </a:rPr>
              <a:t> — derives requirements from a UI screenshot, using vision.</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URL Analysis</a:t>
            </a:r>
            <a:r>
              <a:rPr lang="en-US" sz="900" dirty="0">
                <a:solidFill>
                  <a:srgbClr val="5C6B84"/>
                </a:solidFill>
                <a:latin typeface="Calibri" pitchFamily="34" charset="0"/>
                <a:ea typeface="Calibri" pitchFamily="34" charset="-122"/>
                <a:cs typeface="Calibri" pitchFamily="34" charset="-120"/>
              </a:rPr>
              <a:t> — crawls a live portal and derives requirements from it.</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Code Analysis</a:t>
            </a:r>
            <a:r>
              <a:rPr lang="en-US" sz="900" dirty="0">
                <a:solidFill>
                  <a:srgbClr val="5C6B84"/>
                </a:solidFill>
                <a:latin typeface="Calibri" pitchFamily="34" charset="0"/>
                <a:ea typeface="Calibri" pitchFamily="34" charset="-122"/>
                <a:cs typeface="Calibri" pitchFamily="34" charset="-120"/>
              </a:rPr>
              <a:t> — derives requirements from a GitHub repo or source tree.</a:t>
            </a:r>
          </a:p>
          <a:p>
            <a:pPr indent="0" marL="0">
              <a:spcBef>
                <a:spcPts val="800"/>
              </a:spcBef>
              <a:spcAft>
                <a:spcPts val="400"/>
              </a:spcAft>
              <a:buNone/>
            </a:pPr>
            <a:r>
              <a:rPr lang="en-US" sz="950" b="1" spc="100" kern="0" dirty="0">
                <a:solidFill>
                  <a:srgbClr val="0E7C86"/>
                </a:solidFill>
                <a:latin typeface="Calibri" pitchFamily="34" charset="0"/>
                <a:ea typeface="Calibri" pitchFamily="34" charset="-122"/>
                <a:cs typeface="Calibri" pitchFamily="34" charset="-120"/>
              </a:rPr>
              <a:t>TEST DESIGN · 5 AGENTS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Test Planning</a:t>
            </a:r>
            <a:r>
              <a:rPr lang="en-US" sz="900" dirty="0">
                <a:solidFill>
                  <a:srgbClr val="5C6B84"/>
                </a:solidFill>
                <a:latin typeface="Calibri" pitchFamily="34" charset="0"/>
                <a:ea typeface="Calibri" pitchFamily="34" charset="-122"/>
                <a:cs typeface="Calibri" pitchFamily="34" charset="-120"/>
              </a:rPr>
              <a:t> — builds the structured test plan: scope, strategy, risks.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Test Scenario</a:t>
            </a:r>
            <a:r>
              <a:rPr lang="en-US" sz="900" dirty="0">
                <a:solidFill>
                  <a:srgbClr val="5C6B84"/>
                </a:solidFill>
                <a:latin typeface="Calibri" pitchFamily="34" charset="0"/>
                <a:ea typeface="Calibri" pitchFamily="34" charset="-122"/>
                <a:cs typeface="Calibri" pitchFamily="34" charset="-120"/>
              </a:rPr>
              <a:t> — generates high-level scenarios per requirement.</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Scenario Review</a:t>
            </a:r>
            <a:r>
              <a:rPr lang="en-US" sz="900" dirty="0">
                <a:solidFill>
                  <a:srgbClr val="5C6B84"/>
                </a:solidFill>
                <a:latin typeface="Calibri" pitchFamily="34" charset="0"/>
                <a:ea typeface="Calibri" pitchFamily="34" charset="-122"/>
                <a:cs typeface="Calibri" pitchFamily="34" charset="-120"/>
              </a:rPr>
              <a:t> — independently checks scenario coverage against the requirement.</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Test Case Development</a:t>
            </a:r>
            <a:r>
              <a:rPr lang="en-US" sz="900" dirty="0">
                <a:solidFill>
                  <a:srgbClr val="5C6B84"/>
                </a:solidFill>
                <a:latin typeface="Calibri" pitchFamily="34" charset="0"/>
                <a:ea typeface="Calibri" pitchFamily="34" charset="-122"/>
                <a:cs typeface="Calibri" pitchFamily="34" charset="-120"/>
              </a:rPr>
              <a:t> — expands scenarios into step-by-step test cases.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Test Case Review</a:t>
            </a:r>
            <a:r>
              <a:rPr lang="en-US" sz="900" dirty="0">
                <a:solidFill>
                  <a:srgbClr val="5C6B84"/>
                </a:solidFill>
                <a:latin typeface="Calibri" pitchFamily="34" charset="0"/>
                <a:ea typeface="Calibri" pitchFamily="34" charset="-122"/>
                <a:cs typeface="Calibri" pitchFamily="34" charset="-120"/>
              </a:rPr>
              <a:t> — independently checks case coverage against the scenario.</a:t>
            </a:r>
          </a:p>
        </p:txBody>
      </p:sp>
      <p:sp>
        <p:nvSpPr>
          <p:cNvPr id="10" name="Shape 11"/>
          <p:cNvSpPr/>
          <p:nvPr/>
        </p:nvSpPr>
        <p:spPr>
          <a:xfrm>
            <a:off x="4307738" y="1289304"/>
            <a:ext cx="3576218" cy="4846320"/>
          </a:xfrm>
          <a:prstGeom prst="roundRect">
            <a:avLst>
              <a:gd name="adj" fmla="val 4651"/>
            </a:avLst>
          </a:prstGeom>
          <a:solidFill>
            <a:srgbClr val="F1F4F8"/>
          </a:solidFill>
          <a:ln w="9525">
            <a:solidFill>
              <a:srgbClr val="D8DFE8"/>
            </a:solidFill>
            <a:prstDash val="solid"/>
          </a:ln>
        </p:spPr>
      </p:sp>
      <p:sp>
        <p:nvSpPr>
          <p:cNvPr id="12" name="Text 13"/>
          <p:cNvSpPr/>
          <p:nvPr/>
        </p:nvSpPr>
        <p:spPr>
          <a:xfrm>
            <a:off x="4536338" y="1517904"/>
            <a:ext cx="3119018" cy="4389120"/>
          </a:xfrm>
          <a:prstGeom prst="rect">
            <a:avLst/>
          </a:prstGeom>
          <a:noFill/>
          <a:ln/>
        </p:spPr>
        <p:txBody>
          <a:bodyPr wrap="square" lIns="0" tIns="0" rIns="0" bIns="0" rtlCol="0" anchor="t"/>
          <a:lstStyle/>
          <a:p>
            <a:pPr indent="0" marL="0">
              <a:spcAft>
                <a:spcPts val="400"/>
              </a:spcAft>
              <a:buNone/>
            </a:pPr>
            <a:r>
              <a:rPr lang="en-US" sz="950" b="1" spc="100" kern="0" dirty="0">
                <a:solidFill>
                  <a:srgbClr val="0E7C86"/>
                </a:solidFill>
                <a:latin typeface="Calibri" pitchFamily="34" charset="0"/>
                <a:ea typeface="Calibri" pitchFamily="34" charset="-122"/>
                <a:cs typeface="Calibri" pitchFamily="34" charset="-120"/>
              </a:rPr>
              <a:t>AUTOMATION · 9 AGENTS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Automation Eligibility</a:t>
            </a:r>
            <a:r>
              <a:rPr lang="en-US" sz="900" dirty="0">
                <a:solidFill>
                  <a:srgbClr val="5C6B84"/>
                </a:solidFill>
                <a:latin typeface="Calibri" pitchFamily="34" charset="0"/>
                <a:ea typeface="Calibri" pitchFamily="34" charset="-122"/>
                <a:cs typeface="Calibri" pitchFamily="34" charset="-120"/>
              </a:rPr>
              <a:t> — deterministic yes / no / unknown verdict, with no model call.</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Test Classification</a:t>
            </a:r>
            <a:r>
              <a:rPr lang="en-US" sz="900" dirty="0">
                <a:solidFill>
                  <a:srgbClr val="5C6B84"/>
                </a:solidFill>
                <a:latin typeface="Calibri" pitchFamily="34" charset="0"/>
                <a:ea typeface="Calibri" pitchFamily="34" charset="-122"/>
                <a:cs typeface="Calibri" pitchFamily="34" charset="-120"/>
              </a:rPr>
              <a:t> — advises automation approach, adapter and validators.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Playwright MCP Discovery</a:t>
            </a:r>
            <a:r>
              <a:rPr lang="en-US" sz="900" dirty="0">
                <a:solidFill>
                  <a:srgbClr val="5C6B84"/>
                </a:solidFill>
                <a:latin typeface="Calibri" pitchFamily="34" charset="0"/>
                <a:ea typeface="Calibri" pitchFamily="34" charset="-122"/>
                <a:cs typeface="Calibri" pitchFamily="34" charset="-120"/>
              </a:rPr>
              <a:t> — grounds generation in the application's real UI structure.</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Playwright Planner</a:t>
            </a:r>
            <a:r>
              <a:rPr lang="en-US" sz="900" dirty="0">
                <a:solidFill>
                  <a:srgbClr val="5C6B84"/>
                </a:solidFill>
                <a:latin typeface="Calibri" pitchFamily="34" charset="0"/>
                <a:ea typeface="Calibri" pitchFamily="34" charset="-122"/>
                <a:cs typeface="Calibri" pitchFamily="34" charset="-120"/>
              </a:rPr>
              <a:t> — explores a live application and proposes grounded test cases.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Grounded Capture</a:t>
            </a:r>
            <a:r>
              <a:rPr lang="en-US" sz="900" dirty="0">
                <a:solidFill>
                  <a:srgbClr val="5C6B84"/>
                </a:solidFill>
                <a:latin typeface="Calibri" pitchFamily="34" charset="0"/>
                <a:ea typeface="Calibri" pitchFamily="34" charset="-122"/>
                <a:cs typeface="Calibri" pitchFamily="34" charset="-120"/>
              </a:rPr>
              <a:t> — walks the journey live, capturing state evidence packages.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Automation Script</a:t>
            </a:r>
            <a:r>
              <a:rPr lang="en-US" sz="900" dirty="0">
                <a:solidFill>
                  <a:srgbClr val="5C6B84"/>
                </a:solidFill>
                <a:latin typeface="Calibri" pitchFamily="34" charset="0"/>
                <a:ea typeface="Calibri" pitchFamily="34" charset="-122"/>
                <a:cs typeface="Calibri" pitchFamily="34" charset="-120"/>
              </a:rPr>
              <a:t> — produces a validated generation contract, compiled to code.</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Dry Run</a:t>
            </a:r>
            <a:r>
              <a:rPr lang="en-US" sz="900" dirty="0">
                <a:solidFill>
                  <a:srgbClr val="5C6B84"/>
                </a:solidFill>
                <a:latin typeface="Calibri" pitchFamily="34" charset="0"/>
                <a:ea typeface="Calibri" pitchFamily="34" charset="-122"/>
                <a:cs typeface="Calibri" pitchFamily="34" charset="-120"/>
              </a:rPr>
              <a:t> — executes each new script once before any human reviews it.</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Repair Loop</a:t>
            </a:r>
            <a:r>
              <a:rPr lang="en-US" sz="900" dirty="0">
                <a:solidFill>
                  <a:srgbClr val="5C6B84"/>
                </a:solidFill>
                <a:latin typeface="Calibri" pitchFamily="34" charset="0"/>
                <a:ea typeface="Calibri" pitchFamily="34" charset="-122"/>
                <a:cs typeface="Calibri" pitchFamily="34" charset="-120"/>
              </a:rPr>
              <a:t> — bounded self-healing for locator and timeout failures.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Script Review</a:t>
            </a:r>
            <a:r>
              <a:rPr lang="en-US" sz="900" dirty="0">
                <a:solidFill>
                  <a:srgbClr val="5C6B84"/>
                </a:solidFill>
                <a:latin typeface="Calibri" pitchFamily="34" charset="0"/>
                <a:ea typeface="Calibri" pitchFamily="34" charset="-122"/>
                <a:cs typeface="Calibri" pitchFamily="34" charset="-120"/>
              </a:rPr>
              <a:t> — grades business coverage, assertion quality and cleanup.</a:t>
            </a:r>
          </a:p>
        </p:txBody>
      </p:sp>
      <p:sp>
        <p:nvSpPr>
          <p:cNvPr id="14" name="Shape 15"/>
          <p:cNvSpPr/>
          <p:nvPr/>
        </p:nvSpPr>
        <p:spPr>
          <a:xfrm>
            <a:off x="8112556" y="1289304"/>
            <a:ext cx="3576218" cy="4846320"/>
          </a:xfrm>
          <a:prstGeom prst="roundRect">
            <a:avLst>
              <a:gd name="adj" fmla="val 4651"/>
            </a:avLst>
          </a:prstGeom>
          <a:solidFill>
            <a:srgbClr val="F1F4F8"/>
          </a:solidFill>
          <a:ln w="9525">
            <a:solidFill>
              <a:srgbClr val="D8DFE8"/>
            </a:solidFill>
            <a:prstDash val="solid"/>
          </a:ln>
        </p:spPr>
      </p:sp>
      <p:sp>
        <p:nvSpPr>
          <p:cNvPr id="16" name="Text 17"/>
          <p:cNvSpPr/>
          <p:nvPr/>
        </p:nvSpPr>
        <p:spPr>
          <a:xfrm>
            <a:off x="8341156" y="1517904"/>
            <a:ext cx="3119018" cy="4389120"/>
          </a:xfrm>
          <a:prstGeom prst="rect">
            <a:avLst/>
          </a:prstGeom>
          <a:noFill/>
          <a:ln/>
        </p:spPr>
        <p:txBody>
          <a:bodyPr wrap="square" lIns="0" tIns="0" rIns="0" bIns="0" rtlCol="0" anchor="t"/>
          <a:lstStyle/>
          <a:p>
            <a:pPr indent="0" marL="0">
              <a:spcAft>
                <a:spcPts val="400"/>
              </a:spcAft>
              <a:buNone/>
            </a:pPr>
            <a:r>
              <a:rPr lang="en-US" sz="950" b="1" spc="100" kern="0" dirty="0">
                <a:solidFill>
                  <a:srgbClr val="0E7C86"/>
                </a:solidFill>
                <a:latin typeface="Calibri" pitchFamily="34" charset="0"/>
                <a:ea typeface="Calibri" pitchFamily="34" charset="-122"/>
                <a:cs typeface="Calibri" pitchFamily="34" charset="-120"/>
              </a:rPr>
              <a:t>EXECUTION &amp; DEFECTS · 3 AGENTS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Test Execution</a:t>
            </a:r>
            <a:r>
              <a:rPr lang="en-US" sz="900" dirty="0">
                <a:solidFill>
                  <a:srgbClr val="5C6B84"/>
                </a:solidFill>
                <a:latin typeface="Calibri" pitchFamily="34" charset="0"/>
                <a:ea typeface="Calibri" pitchFamily="34" charset="-122"/>
                <a:cs typeface="Calibri" pitchFamily="34" charset="-120"/>
              </a:rPr>
              <a:t> — runs cases through the controlled gateway and records results.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Failure Classification</a:t>
            </a:r>
            <a:r>
              <a:rPr lang="en-US" sz="900" dirty="0">
                <a:solidFill>
                  <a:srgbClr val="5C6B84"/>
                </a:solidFill>
                <a:latin typeface="Calibri" pitchFamily="34" charset="0"/>
                <a:ea typeface="Calibri" pitchFamily="34" charset="-122"/>
                <a:cs typeface="Calibri" pitchFamily="34" charset="-120"/>
              </a:rPr>
              <a:t> — separates product defects from script, data and environment issues.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Defect Analysis</a:t>
            </a:r>
            <a:r>
              <a:rPr lang="en-US" sz="900" dirty="0">
                <a:solidFill>
                  <a:srgbClr val="5C6B84"/>
                </a:solidFill>
                <a:latin typeface="Calibri" pitchFamily="34" charset="0"/>
                <a:ea typeface="Calibri" pitchFamily="34" charset="-122"/>
                <a:cs typeface="Calibri" pitchFamily="34" charset="-120"/>
              </a:rPr>
              <a:t> — turns failures into structured defect drafts for approval.</a:t>
            </a:r>
          </a:p>
          <a:p>
            <a:pPr indent="0" marL="0">
              <a:spcBef>
                <a:spcPts val="800"/>
              </a:spcBef>
              <a:spcAft>
                <a:spcPts val="400"/>
              </a:spcAft>
              <a:buNone/>
            </a:pPr>
            <a:r>
              <a:rPr lang="en-US" sz="950" b="1" spc="100" kern="0" dirty="0">
                <a:solidFill>
                  <a:srgbClr val="0E7C86"/>
                </a:solidFill>
                <a:latin typeface="Calibri" pitchFamily="34" charset="0"/>
                <a:ea typeface="Calibri" pitchFamily="34" charset="-122"/>
                <a:cs typeface="Calibri" pitchFamily="34" charset="-120"/>
              </a:rPr>
              <a:t>REPORTING &amp; ASSIST · 2 AGENTS</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QA Reporting</a:t>
            </a:r>
            <a:r>
              <a:rPr lang="en-US" sz="900" dirty="0">
                <a:solidFill>
                  <a:srgbClr val="5C6B84"/>
                </a:solidFill>
                <a:latin typeface="Calibri" pitchFamily="34" charset="0"/>
                <a:ea typeface="Calibri" pitchFamily="34" charset="-122"/>
                <a:cs typeface="Calibri" pitchFamily="34" charset="-120"/>
              </a:rPr>
              <a:t> — aggregates STLC metrics into an executive status report.</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Platform Assistant</a:t>
            </a:r>
            <a:r>
              <a:rPr lang="en-US" sz="900" dirty="0">
                <a:solidFill>
                  <a:srgbClr val="5C6B84"/>
                </a:solidFill>
                <a:latin typeface="Calibri" pitchFamily="34" charset="0"/>
                <a:ea typeface="Calibri" pitchFamily="34" charset="-122"/>
                <a:cs typeface="Calibri" pitchFamily="34" charset="-120"/>
              </a:rPr>
              <a:t> — RBAC-scoped copilot that answers with cited sources.</a:t>
            </a:r>
          </a:p>
          <a:p>
            <a:pPr indent="0" marL="0">
              <a:spcBef>
                <a:spcPts val="800"/>
              </a:spcBef>
              <a:spcAft>
                <a:spcPts val="400"/>
              </a:spcAft>
              <a:buNone/>
            </a:pPr>
            <a:r>
              <a:rPr lang="en-US" sz="950" b="1" spc="100" kern="0" dirty="0">
                <a:solidFill>
                  <a:srgbClr val="0E7C86"/>
                </a:solidFill>
                <a:latin typeface="Calibri" pitchFamily="34" charset="0"/>
                <a:ea typeface="Calibri" pitchFamily="34" charset="-122"/>
                <a:cs typeface="Calibri" pitchFamily="34" charset="-120"/>
              </a:rPr>
              <a:t>HOW IT STAYS SAFE</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Rules first</a:t>
            </a:r>
            <a:r>
              <a:rPr lang="en-US" sz="900" dirty="0">
                <a:solidFill>
                  <a:srgbClr val="5C6B84"/>
                </a:solidFill>
                <a:latin typeface="Calibri" pitchFamily="34" charset="0"/>
                <a:ea typeface="Calibri" pitchFamily="34" charset="-122"/>
                <a:cs typeface="Calibri" pitchFamily="34" charset="-120"/>
              </a:rPr>
              <a:t> — deterministic checks run before any model call.</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Full audit trail</a:t>
            </a:r>
            <a:r>
              <a:rPr lang="en-US" sz="900" dirty="0">
                <a:solidFill>
                  <a:srgbClr val="5C6B84"/>
                </a:solidFill>
                <a:latin typeface="Calibri" pitchFamily="34" charset="0"/>
                <a:ea typeface="Calibri" pitchFamily="34" charset="-122"/>
                <a:cs typeface="Calibri" pitchFamily="34" charset="-120"/>
              </a:rPr>
              <a:t> — every run logs model, prompt version and duration.</a:t>
            </a:r>
          </a:p>
          <a:p>
            <a:pPr indent="0" marL="0">
              <a:lnSpc>
                <a:spcPts val="1080"/>
              </a:lnSpc>
              <a:spcAft>
                <a:spcPts val="280"/>
              </a:spcAft>
              <a:buNone/>
            </a:pPr>
            <a:r>
              <a:rPr lang="en-US" sz="900" b="1" dirty="0">
                <a:solidFill>
                  <a:srgbClr val="16233F"/>
                </a:solidFill>
                <a:latin typeface="Calibri" pitchFamily="34" charset="0"/>
                <a:ea typeface="Calibri" pitchFamily="34" charset="-122"/>
                <a:cs typeface="Calibri" pitchFamily="34" charset="-120"/>
              </a:rPr>
              <a:t>Human gates</a:t>
            </a:r>
            <a:r>
              <a:rPr lang="en-US" sz="900" dirty="0">
                <a:solidFill>
                  <a:srgbClr val="5C6B84"/>
                </a:solidFill>
                <a:latin typeface="Calibri" pitchFamily="34" charset="0"/>
                <a:ea typeface="Calibri" pitchFamily="34" charset="-122"/>
                <a:cs typeface="Calibri" pitchFamily="34" charset="-120"/>
              </a:rPr>
              <a:t> — defects, test cases and scripts need sign-off.</a:t>
            </a:r>
          </a:p>
        </p:txBody>
      </p:sp>
      <p:sp>
        <p:nvSpPr>
          <p:cNvPr id="18" name="Text 19"/>
          <p:cNvSpPr/>
          <p:nvPr/>
        </p:nvSpPr>
        <p:spPr>
          <a:xfrm>
            <a:off x="502920" y="6217920"/>
            <a:ext cx="11185855" cy="274320"/>
          </a:xfrm>
          <a:prstGeom prst="rect">
            <a:avLst/>
          </a:prstGeom>
          <a:noFill/>
          <a:ln/>
        </p:spPr>
        <p:txBody>
          <a:bodyPr wrap="square" lIns="0" tIns="0" rIns="0" bIns="0" rtlCol="0" anchor="ctr"/>
          <a:lstStyle/>
          <a:p>
            <a:pPr indent="0" marL="0">
              <a:buNone/>
            </a:pPr>
            <a:r>
              <a:rPr lang="en-US" sz="1050" i="1" dirty="0">
                <a:solidFill>
                  <a:srgbClr val="5C6B84"/>
                </a:solidFill>
                <a:latin typeface="Calibri" pitchFamily="34" charset="0"/>
                <a:ea typeface="Calibri" pitchFamily="34" charset="-122"/>
                <a:cs typeface="Calibri" pitchFamily="34" charset="-120"/>
              </a:rPr>
              <a:t>Agents do the analysis, generation, validation and evidence work. Humans stay on the approval gates.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STLC Platform</dc:title>
  <dc:subject>PptxGenJS Presentation</dc:subject>
  <dc:creator>STLC Platform Team</dc:creator>
  <cp:lastModifiedBy>STLC Platform Team</cp:lastModifiedBy>
  <cp:revision>1</cp:revision>
  <dcterms:created xsi:type="dcterms:W3CDTF">2026-07-27T06:35:24Z</dcterms:created>
  <dcterms:modified xsi:type="dcterms:W3CDTF">2026-07-27T06:35:24Z</dcterms:modified>
</cp:coreProperties>
</file>